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20040" y="411480"/>
            <a:ext cx="960120" cy="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20040" y="411480"/>
            <a:ext cx="0" cy="41148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881360" y="6355080"/>
            <a:ext cx="960120" cy="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41480" y="5943600"/>
            <a:ext cx="0" cy="41148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680960" y="1280160"/>
            <a:ext cx="777240" cy="0"/>
          </a:xfrm>
          <a:prstGeom prst="line">
            <a:avLst/>
          </a:prstGeom>
          <a:ln w="1778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458200" y="1280160"/>
            <a:ext cx="365760" cy="292608"/>
          </a:xfrm>
          <a:prstGeom prst="line">
            <a:avLst/>
          </a:prstGeom>
          <a:ln w="1778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23960" y="1572768"/>
            <a:ext cx="685800" cy="0"/>
          </a:xfrm>
          <a:prstGeom prst="line">
            <a:avLst/>
          </a:prstGeom>
          <a:ln w="1778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464040" y="1481328"/>
            <a:ext cx="146304" cy="146304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7680960" y="1920239"/>
            <a:ext cx="777240" cy="0"/>
          </a:xfrm>
          <a:prstGeom prst="line">
            <a:avLst/>
          </a:prstGeom>
          <a:ln w="1778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458200" y="1920239"/>
            <a:ext cx="365760" cy="292608"/>
          </a:xfrm>
          <a:prstGeom prst="line">
            <a:avLst/>
          </a:prstGeom>
          <a:ln w="1778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23960" y="2212847"/>
            <a:ext cx="685800" cy="0"/>
          </a:xfrm>
          <a:prstGeom prst="line">
            <a:avLst/>
          </a:prstGeom>
          <a:ln w="1778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464040" y="2121408"/>
            <a:ext cx="146304" cy="146304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7680960" y="2560320"/>
            <a:ext cx="777240" cy="0"/>
          </a:xfrm>
          <a:prstGeom prst="line">
            <a:avLst/>
          </a:prstGeom>
          <a:ln w="1778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458200" y="2560320"/>
            <a:ext cx="365760" cy="292607"/>
          </a:xfrm>
          <a:prstGeom prst="line">
            <a:avLst/>
          </a:prstGeom>
          <a:ln w="1778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23960" y="2852927"/>
            <a:ext cx="685800" cy="0"/>
          </a:xfrm>
          <a:prstGeom prst="line">
            <a:avLst/>
          </a:prstGeom>
          <a:ln w="1778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464040" y="2761488"/>
            <a:ext cx="146304" cy="146304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7680960" y="3200399"/>
            <a:ext cx="777240" cy="0"/>
          </a:xfrm>
          <a:prstGeom prst="line">
            <a:avLst/>
          </a:prstGeom>
          <a:ln w="1778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458200" y="3200399"/>
            <a:ext cx="365760" cy="292608"/>
          </a:xfrm>
          <a:prstGeom prst="line">
            <a:avLst/>
          </a:prstGeom>
          <a:ln w="1778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823960" y="3493007"/>
            <a:ext cx="685800" cy="0"/>
          </a:xfrm>
          <a:prstGeom prst="line">
            <a:avLst/>
          </a:prstGeom>
          <a:ln w="1778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64040" y="3401568"/>
            <a:ext cx="146304" cy="146304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7680960" y="3840479"/>
            <a:ext cx="777240" cy="0"/>
          </a:xfrm>
          <a:prstGeom prst="line">
            <a:avLst/>
          </a:prstGeom>
          <a:ln w="1778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58200" y="3840479"/>
            <a:ext cx="365760" cy="292608"/>
          </a:xfrm>
          <a:prstGeom prst="line">
            <a:avLst/>
          </a:prstGeom>
          <a:ln w="1778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23960" y="4133087"/>
            <a:ext cx="685800" cy="0"/>
          </a:xfrm>
          <a:prstGeom prst="line">
            <a:avLst/>
          </a:prstGeom>
          <a:ln w="1778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464040" y="4041647"/>
            <a:ext cx="146304" cy="146304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 flipV="1">
            <a:off x="8001000" y="1645920"/>
            <a:ext cx="1463040" cy="1097280"/>
          </a:xfrm>
          <a:prstGeom prst="line">
            <a:avLst/>
          </a:prstGeom>
          <a:ln w="3810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464040" y="1645920"/>
            <a:ext cx="1463040" cy="1097280"/>
          </a:xfrm>
          <a:prstGeom prst="line">
            <a:avLst/>
          </a:prstGeom>
          <a:ln w="3810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229600" y="2697480"/>
            <a:ext cx="2468880" cy="1737360"/>
          </a:xfrm>
          <a:prstGeom prst="rect">
            <a:avLst/>
          </a:prstGeom>
          <a:solidFill>
            <a:srgbClr val="092740"/>
          </a:solidFill>
          <a:ln w="25400">
            <a:solidFill>
              <a:srgbClr val="0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098280" y="3291840"/>
            <a:ext cx="731520" cy="822960"/>
          </a:xfrm>
          <a:prstGeom prst="roundRect">
            <a:avLst>
              <a:gd name="adj" fmla="val 8000"/>
            </a:avLst>
          </a:prstGeom>
          <a:solidFill>
            <a:srgbClr val="0B405F"/>
          </a:solidFill>
          <a:ln w="19050">
            <a:solidFill>
              <a:srgbClr val="3D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25712" y="3383280"/>
            <a:ext cx="676656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DCF5"/>
                </a:solidFill>
                <a:latin typeface="Aptos"/>
              </a:rPr>
              <a:t>LOCK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1005840"/>
            <a:ext cx="66751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DCF5"/>
                </a:solidFill>
                <a:latin typeface="Aptos"/>
              </a:rPr>
              <a:t>DDCA MINI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6583680" cy="1645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EEF7FF"/>
                </a:solidFill>
                <a:latin typeface="Aptos"/>
              </a:rPr>
              <a:t>Design and Simulation of a
Smart Home Security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20440"/>
            <a:ext cx="61264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CCADE"/>
                </a:solidFill>
                <a:latin typeface="Aptos"/>
              </a:rPr>
              <a:t>Digital Design and Computer Architecture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4944" y="4114800"/>
            <a:ext cx="3877056" cy="0"/>
          </a:xfrm>
          <a:prstGeom prst="line">
            <a:avLst/>
          </a:prstGeom>
          <a:ln w="2794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00100" y="4434840"/>
            <a:ext cx="6217920" cy="126496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500" b="0" dirty="0">
                <a:solidFill>
                  <a:srgbClr val="EEF7FF"/>
                </a:solidFill>
                <a:latin typeface="Aptos"/>
              </a:rPr>
              <a:t>  </a:t>
            </a:r>
            <a:r>
              <a:rPr sz="1500" b="0" dirty="0">
                <a:solidFill>
                  <a:srgbClr val="EEF7FF"/>
                </a:solidFill>
                <a:latin typeface="Aptos"/>
              </a:rPr>
              <a:t>Team Members: </a:t>
            </a:r>
            <a:r>
              <a:rPr lang="en-IN" sz="1500" dirty="0">
                <a:solidFill>
                  <a:srgbClr val="EEF7FF"/>
                </a:solidFill>
                <a:latin typeface="Aptos"/>
              </a:rPr>
              <a:t>Vayyala Dhikshitha – 2620030310</a:t>
            </a:r>
          </a:p>
          <a:p>
            <a:pPr algn="l">
              <a:spcAft>
                <a:spcPts val="0"/>
              </a:spcAft>
            </a:pPr>
            <a:r>
              <a:rPr lang="en-IN" sz="1500" b="0" dirty="0">
                <a:solidFill>
                  <a:srgbClr val="EEF7FF"/>
                </a:solidFill>
                <a:latin typeface="Aptos"/>
              </a:rPr>
              <a:t>                                    </a:t>
            </a:r>
            <a:r>
              <a:rPr lang="en-IN" sz="1500" dirty="0" err="1">
                <a:solidFill>
                  <a:srgbClr val="EEF7FF"/>
                </a:solidFill>
                <a:latin typeface="Aptos"/>
              </a:rPr>
              <a:t>Neerukonda</a:t>
            </a:r>
            <a:r>
              <a:rPr lang="en-IN" sz="1500" dirty="0">
                <a:solidFill>
                  <a:srgbClr val="EEF7FF"/>
                </a:solidFill>
                <a:latin typeface="Aptos"/>
              </a:rPr>
              <a:t> Charishma </a:t>
            </a:r>
            <a:r>
              <a:rPr lang="en-IN" sz="1500" dirty="0" err="1">
                <a:solidFill>
                  <a:srgbClr val="EEF7FF"/>
                </a:solidFill>
                <a:latin typeface="Aptos"/>
              </a:rPr>
              <a:t>Chowdari</a:t>
            </a:r>
            <a:r>
              <a:rPr lang="en-IN" sz="1500" dirty="0">
                <a:solidFill>
                  <a:srgbClr val="EEF7FF"/>
                </a:solidFill>
                <a:latin typeface="Aptos"/>
              </a:rPr>
              <a:t> – 2620030311</a:t>
            </a:r>
          </a:p>
          <a:p>
            <a:pPr algn="l">
              <a:spcAft>
                <a:spcPts val="0"/>
              </a:spcAft>
            </a:pPr>
            <a:r>
              <a:rPr lang="en-IN" sz="1500" dirty="0">
                <a:solidFill>
                  <a:srgbClr val="EEF7FF"/>
                </a:solidFill>
                <a:latin typeface="Aptos"/>
              </a:rPr>
              <a:t>                                    </a:t>
            </a:r>
            <a:r>
              <a:rPr lang="en-IN" sz="1500" dirty="0" err="1">
                <a:solidFill>
                  <a:srgbClr val="EEF7FF"/>
                </a:solidFill>
                <a:latin typeface="Aptos"/>
              </a:rPr>
              <a:t>Yuthikaa</a:t>
            </a:r>
            <a:r>
              <a:rPr lang="en-IN" sz="1500" dirty="0">
                <a:solidFill>
                  <a:srgbClr val="EEF7FF"/>
                </a:solidFill>
                <a:latin typeface="Aptos"/>
              </a:rPr>
              <a:t> Bellamkonda - </a:t>
            </a:r>
          </a:p>
          <a:p>
            <a:pPr algn="l">
              <a:spcAft>
                <a:spcPts val="0"/>
              </a:spcAft>
            </a:pPr>
            <a:endParaRPr lang="en-IN" sz="1500" dirty="0">
              <a:solidFill>
                <a:srgbClr val="EEF7FF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endParaRPr sz="1500" b="0" dirty="0">
              <a:solidFill>
                <a:srgbClr val="EEF7FF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0100" y="5227898"/>
            <a:ext cx="6217920" cy="341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500" b="0" dirty="0">
                <a:solidFill>
                  <a:srgbClr val="EEF7FF"/>
                </a:solidFill>
                <a:latin typeface="Aptos"/>
              </a:rPr>
              <a:t>  </a:t>
            </a:r>
            <a:r>
              <a:rPr sz="1500" b="0" dirty="0">
                <a:solidFill>
                  <a:srgbClr val="EEF7FF"/>
                </a:solidFill>
                <a:latin typeface="Aptos"/>
              </a:rPr>
              <a:t>Section:</a:t>
            </a:r>
            <a:r>
              <a:rPr lang="en-IN" sz="1500" b="0" dirty="0">
                <a:solidFill>
                  <a:srgbClr val="EEF7FF"/>
                </a:solidFill>
                <a:latin typeface="Aptos"/>
              </a:rPr>
              <a:t> Section - 2</a:t>
            </a:r>
            <a:endParaRPr sz="1500" b="0" dirty="0">
              <a:solidFill>
                <a:srgbClr val="EEF7FF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0100" y="5606130"/>
            <a:ext cx="6217920" cy="341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500" b="0" dirty="0">
                <a:solidFill>
                  <a:srgbClr val="EEF7FF"/>
                </a:solidFill>
                <a:latin typeface="Aptos"/>
              </a:rPr>
              <a:t>  </a:t>
            </a:r>
            <a:r>
              <a:rPr sz="1500" b="0" dirty="0">
                <a:solidFill>
                  <a:srgbClr val="EEF7FF"/>
                </a:solidFill>
                <a:latin typeface="Aptos"/>
              </a:rPr>
              <a:t>Faculty: </a:t>
            </a:r>
            <a:r>
              <a:rPr lang="en-IN" sz="1500" dirty="0" err="1">
                <a:solidFill>
                  <a:srgbClr val="EEF7FF"/>
                </a:solidFill>
                <a:latin typeface="Aptos"/>
              </a:rPr>
              <a:t>Dayarnab</a:t>
            </a:r>
            <a:endParaRPr sz="1500" b="0" dirty="0">
              <a:solidFill>
                <a:srgbClr val="EEF7FF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8368" y="6145387"/>
            <a:ext cx="45720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00DCF5"/>
                </a:solidFill>
                <a:latin typeface="Aptos"/>
              </a:rPr>
              <a:t>COMBINATIONAL LOGIC  •  LOGISIM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20040" y="411480"/>
            <a:ext cx="960120" cy="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20040" y="411480"/>
            <a:ext cx="0" cy="41148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881360" y="6355080"/>
            <a:ext cx="960120" cy="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41480" y="5943600"/>
            <a:ext cx="0" cy="41148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EEF7FF"/>
                </a:solidFill>
                <a:latin typeface="Aptos"/>
              </a:rPr>
              <a:t>Problem Statement &amp; Objective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932688"/>
            <a:ext cx="11128248" cy="0"/>
          </a:xfrm>
          <a:prstGeom prst="line">
            <a:avLst/>
          </a:prstGeom>
          <a:ln w="2032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292840" y="256032"/>
            <a:ext cx="411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ACCADE"/>
                </a:solidFill>
                <a:latin typeface="Aptos"/>
              </a:rPr>
              <a:t>2/7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5212080" cy="1417320"/>
          </a:xfrm>
          <a:prstGeom prst="roundRect">
            <a:avLst>
              <a:gd name="adj" fmla="val 8000"/>
            </a:avLst>
          </a:prstGeom>
          <a:solidFill>
            <a:srgbClr val="071D32"/>
          </a:solidFill>
          <a:ln w="15240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4754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DCF5"/>
                </a:solidFill>
                <a:latin typeface="Aptos"/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470916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EF7FF"/>
                </a:solidFill>
                <a:latin typeface="Aptos"/>
              </a:rPr>
              <a:t>A home security system should detect possible intrusion and activate an alarm only when the system is armed.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49377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DCF5"/>
                </a:solidFill>
                <a:latin typeface="Aptos"/>
              </a:rPr>
              <a:t>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383280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3291840"/>
            <a:ext cx="4773168" cy="4480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EF7FF"/>
                </a:solidFill>
                <a:latin typeface="Aptos"/>
              </a:rPr>
              <a:t>Detect door opening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776472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685032"/>
            <a:ext cx="4773168" cy="4480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EF7FF"/>
                </a:solidFill>
                <a:latin typeface="Aptos"/>
              </a:rPr>
              <a:t>Detect window opening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169663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4078224"/>
            <a:ext cx="4773168" cy="4480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EF7FF"/>
                </a:solidFill>
                <a:latin typeface="Aptos"/>
              </a:rPr>
              <a:t>Detect motion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562856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4471416"/>
            <a:ext cx="4773168" cy="4480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EF7FF"/>
                </a:solidFill>
                <a:latin typeface="Aptos"/>
              </a:rPr>
              <a:t>Activate alarm only when security is armed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956048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" y="4864608"/>
            <a:ext cx="4773168" cy="4480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EF7FF"/>
                </a:solidFill>
                <a:latin typeface="Aptos"/>
              </a:rPr>
              <a:t>Implement using basic logic gates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5349240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" y="5257800"/>
            <a:ext cx="4773168" cy="4480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EF7FF"/>
                </a:solidFill>
                <a:latin typeface="Aptos"/>
              </a:rPr>
              <a:t>Simulate and verify in Logisim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19800" y="114300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051728"/>
          </a:solidFill>
          <a:ln w="15240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1417320"/>
            <a:ext cx="51206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DCF5"/>
                </a:solidFill>
                <a:latin typeface="Aptos"/>
              </a:rPr>
              <a:t>CONCEPTUAL BLOCK DIAGRAM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2103120"/>
            <a:ext cx="1508760" cy="438912"/>
          </a:xfrm>
          <a:prstGeom prst="roundRect">
            <a:avLst>
              <a:gd name="adj" fmla="val 8000"/>
            </a:avLst>
          </a:prstGeom>
          <a:solidFill>
            <a:srgbClr val="092740"/>
          </a:solidFill>
          <a:ln w="15240">
            <a:solidFill>
              <a:srgbClr val="3D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2512" y="2139696"/>
            <a:ext cx="1362456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EF7FF"/>
                </a:solidFill>
                <a:latin typeface="Aptos"/>
              </a:rPr>
              <a:t>Door Sensor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18120" y="2322576"/>
            <a:ext cx="502920" cy="0"/>
          </a:xfrm>
          <a:prstGeom prst="line">
            <a:avLst/>
          </a:prstGeom>
          <a:ln w="1778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309360" y="2880360"/>
            <a:ext cx="1508760" cy="438912"/>
          </a:xfrm>
          <a:prstGeom prst="roundRect">
            <a:avLst>
              <a:gd name="adj" fmla="val 8000"/>
            </a:avLst>
          </a:prstGeom>
          <a:solidFill>
            <a:srgbClr val="092740"/>
          </a:solidFill>
          <a:ln w="15240">
            <a:solidFill>
              <a:srgbClr val="3D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82512" y="2916936"/>
            <a:ext cx="1362456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EF7FF"/>
                </a:solidFill>
                <a:latin typeface="Aptos"/>
              </a:rPr>
              <a:t>Window Sensor</a:t>
            </a:r>
          </a:p>
        </p:txBody>
      </p:sp>
      <p:cxnSp>
        <p:nvCxnSpPr>
          <p:cNvPr id="32" name="Connector 31"/>
          <p:cNvCxnSpPr>
            <a:cxnSpLocks/>
            <a:endCxn id="39" idx="1"/>
          </p:cNvCxnSpPr>
          <p:nvPr/>
        </p:nvCxnSpPr>
        <p:spPr>
          <a:xfrm>
            <a:off x="7818120" y="3099815"/>
            <a:ext cx="683514" cy="9561"/>
          </a:xfrm>
          <a:prstGeom prst="line">
            <a:avLst/>
          </a:prstGeom>
          <a:ln w="1778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309360" y="3657600"/>
            <a:ext cx="1508760" cy="438912"/>
          </a:xfrm>
          <a:prstGeom prst="roundRect">
            <a:avLst>
              <a:gd name="adj" fmla="val 8000"/>
            </a:avLst>
          </a:prstGeom>
          <a:solidFill>
            <a:srgbClr val="092740"/>
          </a:solidFill>
          <a:ln w="15240">
            <a:solidFill>
              <a:srgbClr val="3D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82512" y="3694176"/>
            <a:ext cx="1362456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EF7FF"/>
                </a:solidFill>
                <a:latin typeface="Aptos"/>
              </a:rPr>
              <a:t>Motion Sensor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818120" y="3877056"/>
            <a:ext cx="502920" cy="0"/>
          </a:xfrm>
          <a:prstGeom prst="line">
            <a:avLst/>
          </a:prstGeom>
          <a:ln w="1778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412480" y="4910328"/>
            <a:ext cx="1463040" cy="438912"/>
          </a:xfrm>
          <a:prstGeom prst="roundRect">
            <a:avLst>
              <a:gd name="adj" fmla="val 8000"/>
            </a:avLst>
          </a:prstGeom>
          <a:solidFill>
            <a:srgbClr val="092740"/>
          </a:solidFill>
          <a:ln w="15240">
            <a:solidFill>
              <a:srgbClr val="3D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55914" y="5005924"/>
            <a:ext cx="137160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dirty="0">
                <a:solidFill>
                  <a:srgbClr val="EEF7FF"/>
                </a:solidFill>
                <a:latin typeface="Aptos"/>
              </a:rPr>
              <a:t>Security System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9164574" y="3730752"/>
            <a:ext cx="0" cy="1143000"/>
          </a:xfrm>
          <a:prstGeom prst="line">
            <a:avLst/>
          </a:prstGeom>
          <a:ln w="1905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501634" y="2537876"/>
            <a:ext cx="1325880" cy="1143000"/>
          </a:xfrm>
          <a:prstGeom prst="roundRect">
            <a:avLst>
              <a:gd name="adj" fmla="val 8000"/>
            </a:avLst>
          </a:prstGeom>
          <a:solidFill>
            <a:srgbClr val="004058"/>
          </a:solidFill>
          <a:ln w="19050">
            <a:solidFill>
              <a:srgbClr val="0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49640" y="2859994"/>
            <a:ext cx="1179576" cy="5486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dirty="0">
                <a:solidFill>
                  <a:srgbClr val="EEF7FF"/>
                </a:solidFill>
                <a:latin typeface="Aptos"/>
              </a:rPr>
              <a:t>LOGIC
SYSTEM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01339" y="2928574"/>
            <a:ext cx="1143000" cy="594360"/>
          </a:xfrm>
          <a:prstGeom prst="roundRect">
            <a:avLst>
              <a:gd name="adj" fmla="val 8000"/>
            </a:avLst>
          </a:prstGeom>
          <a:solidFill>
            <a:srgbClr val="50172D"/>
          </a:solidFill>
          <a:ln w="19050">
            <a:solidFill>
              <a:srgbClr val="FF4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309860" y="3040380"/>
            <a:ext cx="105156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EEF7FF"/>
                </a:solidFill>
                <a:latin typeface="Aptos"/>
              </a:rPr>
              <a:t>ALARM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827514" y="3200400"/>
            <a:ext cx="457200" cy="0"/>
          </a:xfrm>
          <a:prstGeom prst="line">
            <a:avLst/>
          </a:prstGeom>
          <a:ln w="20320">
            <a:solidFill>
              <a:srgbClr val="FF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309360" y="5806440"/>
            <a:ext cx="51206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ACCADE"/>
                </a:solidFill>
                <a:latin typeface="Aptos"/>
              </a:rPr>
              <a:t>Sensor signals → Boolean logic → Alarm output</a:t>
            </a:r>
          </a:p>
        </p:txBody>
      </p:sp>
      <p:cxnSp>
        <p:nvCxnSpPr>
          <p:cNvPr id="50" name="Connector 34">
            <a:extLst>
              <a:ext uri="{FF2B5EF4-FFF2-40B4-BE49-F238E27FC236}">
                <a16:creationId xmlns:a16="http://schemas.microsoft.com/office/drawing/2014/main" id="{BDFFD480-F1C1-0C13-433C-27DB25845791}"/>
              </a:ext>
            </a:extLst>
          </p:cNvPr>
          <p:cNvCxnSpPr>
            <a:cxnSpLocks/>
          </p:cNvCxnSpPr>
          <p:nvPr/>
        </p:nvCxnSpPr>
        <p:spPr>
          <a:xfrm flipV="1">
            <a:off x="8321040" y="3374136"/>
            <a:ext cx="12053" cy="502920"/>
          </a:xfrm>
          <a:prstGeom prst="line">
            <a:avLst/>
          </a:prstGeom>
          <a:ln w="1778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34">
            <a:extLst>
              <a:ext uri="{FF2B5EF4-FFF2-40B4-BE49-F238E27FC236}">
                <a16:creationId xmlns:a16="http://schemas.microsoft.com/office/drawing/2014/main" id="{475164F1-4ABD-46DF-1C3B-3BA4A0D2AFEB}"/>
              </a:ext>
            </a:extLst>
          </p:cNvPr>
          <p:cNvCxnSpPr>
            <a:cxnSpLocks/>
          </p:cNvCxnSpPr>
          <p:nvPr/>
        </p:nvCxnSpPr>
        <p:spPr>
          <a:xfrm flipV="1">
            <a:off x="8297488" y="2340864"/>
            <a:ext cx="12053" cy="502920"/>
          </a:xfrm>
          <a:prstGeom prst="line">
            <a:avLst/>
          </a:prstGeom>
          <a:ln w="1778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31">
            <a:extLst>
              <a:ext uri="{FF2B5EF4-FFF2-40B4-BE49-F238E27FC236}">
                <a16:creationId xmlns:a16="http://schemas.microsoft.com/office/drawing/2014/main" id="{C0DABEDE-89AC-22B5-83FD-C2C5397D5109}"/>
              </a:ext>
            </a:extLst>
          </p:cNvPr>
          <p:cNvCxnSpPr>
            <a:cxnSpLocks/>
          </p:cNvCxnSpPr>
          <p:nvPr/>
        </p:nvCxnSpPr>
        <p:spPr>
          <a:xfrm>
            <a:off x="8321040" y="3391176"/>
            <a:ext cx="161683" cy="4572"/>
          </a:xfrm>
          <a:prstGeom prst="line">
            <a:avLst/>
          </a:prstGeom>
          <a:ln w="1778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28">
            <a:extLst>
              <a:ext uri="{FF2B5EF4-FFF2-40B4-BE49-F238E27FC236}">
                <a16:creationId xmlns:a16="http://schemas.microsoft.com/office/drawing/2014/main" id="{770676D3-6896-BA35-6C6A-24DE3DEDDBB2}"/>
              </a:ext>
            </a:extLst>
          </p:cNvPr>
          <p:cNvCxnSpPr>
            <a:cxnSpLocks/>
          </p:cNvCxnSpPr>
          <p:nvPr/>
        </p:nvCxnSpPr>
        <p:spPr>
          <a:xfrm>
            <a:off x="8297488" y="2843784"/>
            <a:ext cx="204146" cy="0"/>
          </a:xfrm>
          <a:prstGeom prst="line">
            <a:avLst/>
          </a:prstGeom>
          <a:ln w="1778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20040" y="411480"/>
            <a:ext cx="960120" cy="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20040" y="411480"/>
            <a:ext cx="0" cy="41148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881360" y="6355080"/>
            <a:ext cx="960120" cy="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41480" y="5943600"/>
            <a:ext cx="0" cy="41148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EEF7FF"/>
                </a:solidFill>
                <a:latin typeface="Aptos"/>
              </a:rPr>
              <a:t>System Inputs, Output and Boolean Expression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932688"/>
            <a:ext cx="11128248" cy="0"/>
          </a:xfrm>
          <a:prstGeom prst="line">
            <a:avLst/>
          </a:prstGeom>
          <a:ln w="2032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292840" y="256032"/>
            <a:ext cx="411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ACCADE"/>
                </a:solidFill>
                <a:latin typeface="Aptos"/>
              </a:rPr>
              <a:t>3/7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1325880" cy="566928"/>
          </a:xfrm>
          <a:prstGeom prst="rect">
            <a:avLst/>
          </a:prstGeom>
          <a:solidFill>
            <a:srgbClr val="092740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1243584"/>
            <a:ext cx="128930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DCF5"/>
                </a:solidFill>
                <a:latin typeface="Aptos"/>
              </a:rPr>
              <a:t>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1234440"/>
            <a:ext cx="2468880" cy="566928"/>
          </a:xfrm>
          <a:prstGeom prst="rect">
            <a:avLst/>
          </a:prstGeom>
          <a:solidFill>
            <a:srgbClr val="092740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38528" y="1243584"/>
            <a:ext cx="243230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DCF5"/>
                </a:solidFill>
                <a:latin typeface="Aptos"/>
              </a:rPr>
              <a:t>Meaning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234440"/>
            <a:ext cx="1828800" cy="566928"/>
          </a:xfrm>
          <a:prstGeom prst="rect">
            <a:avLst/>
          </a:prstGeom>
          <a:solidFill>
            <a:srgbClr val="092740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07408" y="1243584"/>
            <a:ext cx="179222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DCF5"/>
                </a:solidFill>
                <a:latin typeface="Aptos"/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2377440" cy="566928"/>
          </a:xfrm>
          <a:prstGeom prst="rect">
            <a:avLst/>
          </a:prstGeom>
          <a:solidFill>
            <a:srgbClr val="092740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6208" y="1243584"/>
            <a:ext cx="234086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DCF5"/>
                </a:solidFill>
                <a:latin typeface="Aptos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1801368"/>
            <a:ext cx="1325880" cy="56692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1810512"/>
            <a:ext cx="128930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1801368"/>
            <a:ext cx="2468880" cy="56692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38528" y="1810512"/>
            <a:ext cx="243230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Security system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1801368"/>
            <a:ext cx="1828800" cy="56692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07408" y="1810512"/>
            <a:ext cx="179222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Disarmed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801368"/>
            <a:ext cx="2377440" cy="56692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6208" y="1810512"/>
            <a:ext cx="234086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Armed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368296"/>
            <a:ext cx="1325880" cy="56692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" y="2377439"/>
            <a:ext cx="128930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2368296"/>
            <a:ext cx="2468880" cy="56692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938528" y="2377439"/>
            <a:ext cx="243230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Door sensor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2368296"/>
            <a:ext cx="1828800" cy="56692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07408" y="2377439"/>
            <a:ext cx="179222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Closed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368296"/>
            <a:ext cx="2377440" cy="56692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36208" y="2377439"/>
            <a:ext cx="234086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Open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2935224"/>
            <a:ext cx="1325880" cy="56692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" y="2944368"/>
            <a:ext cx="128930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20240" y="2935224"/>
            <a:ext cx="2468880" cy="56692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938528" y="2944368"/>
            <a:ext cx="243230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Window sensor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2935224"/>
            <a:ext cx="1828800" cy="56692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07408" y="2944368"/>
            <a:ext cx="179222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Closed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2935224"/>
            <a:ext cx="2377440" cy="56692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36208" y="2944368"/>
            <a:ext cx="234086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Open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3502152"/>
            <a:ext cx="1325880" cy="56692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2648" y="3511296"/>
            <a:ext cx="128930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20240" y="3502152"/>
            <a:ext cx="2468880" cy="56692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938528" y="3511296"/>
            <a:ext cx="243230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Motion sensor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3502152"/>
            <a:ext cx="1828800" cy="56692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07408" y="3511296"/>
            <a:ext cx="179222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No motion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3502152"/>
            <a:ext cx="2377440" cy="56692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6208" y="3511296"/>
            <a:ext cx="234086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Motion detected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4069080"/>
            <a:ext cx="1325880" cy="56692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2648" y="4078224"/>
            <a:ext cx="128930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20240" y="4069080"/>
            <a:ext cx="2468880" cy="56692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938528" y="4078224"/>
            <a:ext cx="243230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Alarm output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89120" y="4069080"/>
            <a:ext cx="1828800" cy="56692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407408" y="4078224"/>
            <a:ext cx="179222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OFF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4069080"/>
            <a:ext cx="2377440" cy="56692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36208" y="4078224"/>
            <a:ext cx="2340864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61120" y="123444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092740"/>
          </a:solidFill>
          <a:ln w="17780">
            <a:solidFill>
              <a:srgbClr val="0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144000" y="1444752"/>
            <a:ext cx="22860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DCF5"/>
                </a:solidFill>
                <a:latin typeface="Aptos"/>
              </a:rPr>
              <a:t>BOOLEAN EXPRESSION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25712" y="1874519"/>
            <a:ext cx="233172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EEF7FF"/>
                </a:solidFill>
                <a:latin typeface="Aptos"/>
              </a:rPr>
              <a:t>A = S(D + W + M)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98280" y="3429000"/>
            <a:ext cx="24688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DCF5"/>
                </a:solidFill>
                <a:latin typeface="Aptos"/>
              </a:rPr>
              <a:t>HOW IT WORKS</a:t>
            </a:r>
          </a:p>
        </p:txBody>
      </p:sp>
      <p:sp>
        <p:nvSpPr>
          <p:cNvPr id="61" name="Oval 60"/>
          <p:cNvSpPr/>
          <p:nvPr/>
        </p:nvSpPr>
        <p:spPr>
          <a:xfrm>
            <a:off x="9098280" y="3931920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62872" y="3840480"/>
            <a:ext cx="2350008" cy="8778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OR: any intrusion sensor is active</a:t>
            </a:r>
          </a:p>
        </p:txBody>
      </p:sp>
      <p:sp>
        <p:nvSpPr>
          <p:cNvPr id="63" name="Oval 62"/>
          <p:cNvSpPr/>
          <p:nvPr/>
        </p:nvSpPr>
        <p:spPr>
          <a:xfrm>
            <a:off x="9098280" y="4754880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262872" y="4663440"/>
            <a:ext cx="2350008" cy="8778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AND: alarm activates only when armed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4983480"/>
            <a:ext cx="7909560" cy="1005840"/>
          </a:xfrm>
          <a:prstGeom prst="roundRect">
            <a:avLst>
              <a:gd name="adj" fmla="val 8000"/>
            </a:avLst>
          </a:prstGeom>
          <a:solidFill>
            <a:srgbClr val="071D32"/>
          </a:solidFill>
          <a:ln w="15240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68680" y="5166360"/>
            <a:ext cx="740664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EF7FF"/>
                </a:solidFill>
                <a:latin typeface="Aptos"/>
              </a:rPr>
              <a:t>A = S AND (D OR W OR M)
Alarm is ON only if S = 1 and at least one sensor is active.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20040" y="411480"/>
            <a:ext cx="960120" cy="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20040" y="411480"/>
            <a:ext cx="0" cy="41148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881360" y="6355080"/>
            <a:ext cx="960120" cy="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41480" y="5943600"/>
            <a:ext cx="0" cy="41148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EEF7FF"/>
                </a:solidFill>
                <a:latin typeface="Aptos"/>
              </a:rPr>
              <a:t>Combinational Logic Circuit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932688"/>
            <a:ext cx="11128248" cy="0"/>
          </a:xfrm>
          <a:prstGeom prst="line">
            <a:avLst/>
          </a:prstGeom>
          <a:ln w="2032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292840" y="256032"/>
            <a:ext cx="411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ACCADE"/>
                </a:solidFill>
                <a:latin typeface="Aptos"/>
              </a:rPr>
              <a:t>4/7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188720"/>
            <a:ext cx="56692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DCF5"/>
                </a:solidFill>
                <a:latin typeface="Aptos"/>
              </a:rPr>
              <a:t>LOGIC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5244" y="1952489"/>
            <a:ext cx="13258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EEF7FF"/>
                </a:solidFill>
                <a:latin typeface="Aptos"/>
              </a:rPr>
              <a:t>D — Door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58297" y="2096925"/>
            <a:ext cx="914400" cy="0"/>
          </a:xfrm>
          <a:prstGeom prst="line">
            <a:avLst/>
          </a:prstGeom>
          <a:ln w="2032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2465979"/>
            <a:ext cx="13258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EEF7FF"/>
                </a:solidFill>
                <a:latin typeface="Aptos"/>
              </a:rPr>
              <a:t>W — Window</a:t>
            </a:r>
          </a:p>
        </p:txBody>
      </p:sp>
      <p:cxnSp>
        <p:nvCxnSpPr>
          <p:cNvPr id="13" name="Connector 12"/>
          <p:cNvCxnSpPr>
            <a:cxnSpLocks/>
          </p:cNvCxnSpPr>
          <p:nvPr/>
        </p:nvCxnSpPr>
        <p:spPr>
          <a:xfrm>
            <a:off x="1858297" y="2633472"/>
            <a:ext cx="1494503" cy="0"/>
          </a:xfrm>
          <a:prstGeom prst="line">
            <a:avLst/>
          </a:prstGeom>
          <a:ln w="2032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58" y="2994659"/>
            <a:ext cx="13258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EEF7FF"/>
                </a:solidFill>
                <a:latin typeface="Aptos"/>
              </a:rPr>
              <a:t>M — Motion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58297" y="3154679"/>
            <a:ext cx="914400" cy="0"/>
          </a:xfrm>
          <a:prstGeom prst="line">
            <a:avLst/>
          </a:prstGeom>
          <a:ln w="2032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evron 15"/>
          <p:cNvSpPr/>
          <p:nvPr/>
        </p:nvSpPr>
        <p:spPr>
          <a:xfrm>
            <a:off x="2743200" y="2011680"/>
            <a:ext cx="1645920" cy="1234440"/>
          </a:xfrm>
          <a:prstGeom prst="chevron">
            <a:avLst/>
          </a:prstGeom>
          <a:solidFill>
            <a:srgbClr val="00465F"/>
          </a:solidFill>
          <a:ln w="22860">
            <a:solidFill>
              <a:srgbClr val="0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04804" y="2455164"/>
            <a:ext cx="109728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EEF7FF"/>
                </a:solidFill>
                <a:latin typeface="Aptos"/>
              </a:rPr>
              <a:t>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89120" y="2633472"/>
            <a:ext cx="548640" cy="0"/>
          </a:xfrm>
          <a:prstGeom prst="line">
            <a:avLst/>
          </a:prstGeom>
          <a:ln w="2159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49039" y="3337560"/>
            <a:ext cx="10972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CCADE"/>
                </a:solidFill>
                <a:latin typeface="Aptos"/>
              </a:rPr>
              <a:t>3-input 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7092" y="2546604"/>
            <a:ext cx="82296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/>
              </a:rPr>
              <a:t>AND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06440" y="2660904"/>
            <a:ext cx="457200" cy="0"/>
          </a:xfrm>
          <a:prstGeom prst="line">
            <a:avLst/>
          </a:prstGeom>
          <a:ln w="21590">
            <a:solidFill>
              <a:srgbClr val="FF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263640" y="2450592"/>
            <a:ext cx="411480" cy="411480"/>
          </a:xfrm>
          <a:prstGeom prst="ellipse">
            <a:avLst/>
          </a:prstGeom>
          <a:solidFill>
            <a:srgbClr val="FF4F69"/>
          </a:solidFill>
          <a:ln>
            <a:solidFill>
              <a:srgbClr val="FF4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2971800"/>
            <a:ext cx="7315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EF7FF"/>
                </a:solidFill>
                <a:latin typeface="Aptos"/>
              </a:rPr>
              <a:t>Alarm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4069080"/>
            <a:ext cx="12801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EF7FF"/>
                </a:solidFill>
                <a:latin typeface="Aptos"/>
              </a:rPr>
              <a:t>S — Security</a:t>
            </a:r>
          </a:p>
        </p:txBody>
      </p:sp>
      <p:cxnSp>
        <p:nvCxnSpPr>
          <p:cNvPr id="26" name="Connector 25"/>
          <p:cNvCxnSpPr>
            <a:cxnSpLocks/>
            <a:stCxn id="25" idx="0"/>
          </p:cNvCxnSpPr>
          <p:nvPr/>
        </p:nvCxnSpPr>
        <p:spPr>
          <a:xfrm flipV="1">
            <a:off x="4800600" y="3365582"/>
            <a:ext cx="0" cy="703498"/>
          </a:xfrm>
          <a:prstGeom prst="line">
            <a:avLst/>
          </a:prstGeom>
          <a:ln w="20320">
            <a:solidFill>
              <a:srgbClr val="3DA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800600" y="3365582"/>
            <a:ext cx="365760" cy="0"/>
          </a:xfrm>
          <a:prstGeom prst="line">
            <a:avLst/>
          </a:prstGeom>
          <a:ln w="20320">
            <a:solidFill>
              <a:srgbClr val="3DA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15200" y="1325880"/>
            <a:ext cx="4251960" cy="3246120"/>
          </a:xfrm>
          <a:prstGeom prst="roundRect">
            <a:avLst>
              <a:gd name="adj" fmla="val 8000"/>
            </a:avLst>
          </a:prstGeom>
          <a:solidFill>
            <a:srgbClr val="031424"/>
          </a:solidFill>
          <a:ln w="17780">
            <a:solidFill>
              <a:srgbClr val="0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94360" y="4800600"/>
            <a:ext cx="6355080" cy="1417320"/>
          </a:xfrm>
          <a:prstGeom prst="roundRect">
            <a:avLst>
              <a:gd name="adj" fmla="val 8000"/>
            </a:avLst>
          </a:prstGeom>
          <a:solidFill>
            <a:srgbClr val="071D32"/>
          </a:solidFill>
          <a:ln w="15240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4965192"/>
            <a:ext cx="5897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DCF5"/>
                </a:solidFill>
                <a:latin typeface="Aptos"/>
              </a:rPr>
              <a:t>CIRCUIT COMPONENTS</a:t>
            </a:r>
          </a:p>
        </p:txBody>
      </p:sp>
      <p:sp>
        <p:nvSpPr>
          <p:cNvPr id="32" name="Oval 31"/>
          <p:cNvSpPr/>
          <p:nvPr/>
        </p:nvSpPr>
        <p:spPr>
          <a:xfrm>
            <a:off x="868680" y="5440679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3271" y="5349240"/>
            <a:ext cx="5641848" cy="4480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One 3-input OR gate and one 2-input AND gate</a:t>
            </a:r>
          </a:p>
        </p:txBody>
      </p:sp>
      <p:sp>
        <p:nvSpPr>
          <p:cNvPr id="34" name="Oval 33"/>
          <p:cNvSpPr/>
          <p:nvPr/>
        </p:nvSpPr>
        <p:spPr>
          <a:xfrm>
            <a:off x="868680" y="5833871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3271" y="5742431"/>
            <a:ext cx="5641848" cy="4480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EEF7FF"/>
                </a:solidFill>
                <a:latin typeface="Aptos"/>
              </a:rPr>
              <a:t>Four input switches (S, D, W, M) and one output LED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87F3AFB-329B-E3B9-E306-F58304179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571" y="1325880"/>
            <a:ext cx="4251960" cy="3246119"/>
          </a:xfrm>
          <a:prstGeom prst="rect">
            <a:avLst/>
          </a:prstGeom>
        </p:spPr>
      </p:pic>
      <p:cxnSp>
        <p:nvCxnSpPr>
          <p:cNvPr id="40" name="Connector 26">
            <a:extLst>
              <a:ext uri="{FF2B5EF4-FFF2-40B4-BE49-F238E27FC236}">
                <a16:creationId xmlns:a16="http://schemas.microsoft.com/office/drawing/2014/main" id="{4F8FF776-6030-EA1E-79AB-13A0E475FA08}"/>
              </a:ext>
            </a:extLst>
          </p:cNvPr>
          <p:cNvCxnSpPr>
            <a:cxnSpLocks/>
          </p:cNvCxnSpPr>
          <p:nvPr/>
        </p:nvCxnSpPr>
        <p:spPr>
          <a:xfrm>
            <a:off x="5166360" y="3154679"/>
            <a:ext cx="0" cy="212598"/>
          </a:xfrm>
          <a:prstGeom prst="line">
            <a:avLst/>
          </a:prstGeom>
          <a:ln w="20320">
            <a:solidFill>
              <a:srgbClr val="3DA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hord 46">
            <a:extLst>
              <a:ext uri="{FF2B5EF4-FFF2-40B4-BE49-F238E27FC236}">
                <a16:creationId xmlns:a16="http://schemas.microsoft.com/office/drawing/2014/main" id="{989A9DBA-D506-13CA-C624-4EA5BB975546}"/>
              </a:ext>
            </a:extLst>
          </p:cNvPr>
          <p:cNvSpPr/>
          <p:nvPr/>
        </p:nvSpPr>
        <p:spPr>
          <a:xfrm rot="12182409">
            <a:off x="4475788" y="2020523"/>
            <a:ext cx="1333792" cy="1069368"/>
          </a:xfrm>
          <a:prstGeom prst="chor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20040" y="411480"/>
            <a:ext cx="960120" cy="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20040" y="411480"/>
            <a:ext cx="0" cy="41148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881360" y="6355080"/>
            <a:ext cx="960120" cy="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41480" y="5943600"/>
            <a:ext cx="0" cy="41148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EEF7FF"/>
                </a:solidFill>
                <a:latin typeface="Aptos"/>
              </a:rPr>
              <a:t>Truth Table &amp; Logic Verification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932688"/>
            <a:ext cx="11128248" cy="0"/>
          </a:xfrm>
          <a:prstGeom prst="line">
            <a:avLst/>
          </a:prstGeom>
          <a:ln w="2032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292840" y="256032"/>
            <a:ext cx="411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ACCADE"/>
                </a:solidFill>
                <a:latin typeface="Aptos"/>
              </a:rPr>
              <a:t>5/7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143000"/>
            <a:ext cx="960120" cy="292608"/>
          </a:xfrm>
          <a:prstGeom prst="rect">
            <a:avLst/>
          </a:prstGeom>
          <a:solidFill>
            <a:srgbClr val="092740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38528" y="1152144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DCF5"/>
                </a:solidFill>
                <a:latin typeface="Aptos"/>
              </a:rPr>
              <a:t>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1143000"/>
            <a:ext cx="960120" cy="292608"/>
          </a:xfrm>
          <a:prstGeom prst="rect">
            <a:avLst/>
          </a:prstGeom>
          <a:solidFill>
            <a:srgbClr val="092740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98648" y="1152144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DCF5"/>
                </a:solidFill>
                <a:latin typeface="Aptos"/>
              </a:rPr>
              <a:t>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1143000"/>
            <a:ext cx="960120" cy="292608"/>
          </a:xfrm>
          <a:prstGeom prst="rect">
            <a:avLst/>
          </a:prstGeom>
          <a:solidFill>
            <a:srgbClr val="092740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58768" y="1152144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DCF5"/>
                </a:solidFill>
                <a:latin typeface="Aptos"/>
              </a:rPr>
              <a:t>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1143000"/>
            <a:ext cx="960120" cy="292608"/>
          </a:xfrm>
          <a:prstGeom prst="rect">
            <a:avLst/>
          </a:prstGeom>
          <a:solidFill>
            <a:srgbClr val="092740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18888" y="1152144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DCF5"/>
                </a:solidFill>
                <a:latin typeface="Aptos"/>
              </a:rPr>
              <a:t>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143000"/>
            <a:ext cx="960120" cy="292608"/>
          </a:xfrm>
          <a:prstGeom prst="rect">
            <a:avLst/>
          </a:prstGeom>
          <a:solidFill>
            <a:srgbClr val="092740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79007" y="1152144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DCF5"/>
                </a:solidFill>
                <a:latin typeface="Aptos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1435608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38528" y="1444752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360" y="1435608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98648" y="1444752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1435608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58768" y="1444752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1435608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18888" y="1444752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1435608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79007" y="1444752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1728216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38528" y="1737360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1728216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98648" y="1737360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1728216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58768" y="1737360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1728216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18888" y="1737360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1728216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79007" y="1737360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2020824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938528" y="2029967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80360" y="2020824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98648" y="2029967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0" y="2020824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58768" y="2029967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00600" y="2020824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18888" y="2029967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60720" y="2020824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779007" y="2029967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2313432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938528" y="2322576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80360" y="2313432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898648" y="2322576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0" y="2313432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858768" y="2322576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00600" y="2313432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818888" y="2322576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0720" y="2313432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779007" y="2322576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20240" y="2606040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938528" y="2615184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80360" y="2606040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898648" y="2615184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40480" y="2606040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858768" y="2615184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00600" y="2606040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818888" y="2615184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60720" y="2606040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779007" y="2615184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20240" y="2898648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938528" y="2907791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880360" y="2898648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898648" y="2907791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40480" y="2898648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858768" y="2907791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800600" y="2898648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818888" y="2907791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760720" y="2898648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779007" y="2907791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20240" y="3191256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938528" y="3200400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880360" y="3191256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898648" y="3200400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3191256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858768" y="3200400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800600" y="3191256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818888" y="3200400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760720" y="3191256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779007" y="3200400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20240" y="3483864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938528" y="3493008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880360" y="3483864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898648" y="3493008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840480" y="3483864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858768" y="3493008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800600" y="3483864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818888" y="3493008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60720" y="3483864"/>
            <a:ext cx="960120" cy="292608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779007" y="3493008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920240" y="3776472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938528" y="3785615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880360" y="3776472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898648" y="3785615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840480" y="3776472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858768" y="3785615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800600" y="3776472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818888" y="3785615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760720" y="3776472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779007" y="3785615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920240" y="4069080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938528" y="4078224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880360" y="4069080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898648" y="4078224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840480" y="4069080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858768" y="4078224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800600" y="4069080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4818888" y="4078224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760720" y="4069080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5779007" y="4078224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3E1AA"/>
                </a:solidFill>
                <a:latin typeface="Aptos"/>
              </a:rPr>
              <a:t>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920240" y="4361688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938528" y="4370831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880360" y="4361688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2898648" y="4370831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40480" y="4361688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858768" y="4370831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800600" y="4361688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818888" y="4370831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760720" y="4361688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5779007" y="4370831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3E1AA"/>
                </a:solidFill>
                <a:latin typeface="Aptos"/>
              </a:rPr>
              <a:t>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920240" y="4654296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938528" y="4663440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80360" y="4654296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2898648" y="4663440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840480" y="4654296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3858768" y="4663440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800600" y="4654296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4818888" y="4663440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760720" y="4654296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5779007" y="4663440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3E1AA"/>
                </a:solidFill>
                <a:latin typeface="Aptos"/>
              </a:rPr>
              <a:t>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920240" y="4946904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938528" y="4956048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880360" y="4946904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2898648" y="4956048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840480" y="4946904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3858768" y="4956048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800600" y="4946904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4818888" y="4956048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760720" y="4946904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5779007" y="4956048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3E1AA"/>
                </a:solidFill>
                <a:latin typeface="Aptos"/>
              </a:rPr>
              <a:t>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920240" y="5239512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1938528" y="5248656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880360" y="5239512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2898648" y="5248656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840480" y="5239512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858768" y="5248656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800600" y="5239512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818888" y="5248656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760720" y="5239512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779007" y="5248656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3E1AA"/>
                </a:solidFill>
                <a:latin typeface="Aptos"/>
              </a:rPr>
              <a:t>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920240" y="5532120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1938528" y="5541264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880360" y="5532120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898648" y="5541264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840480" y="5532120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3858768" y="5541264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800600" y="5532120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4818888" y="5541264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760720" y="5532120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5779007" y="5541264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3E1AA"/>
                </a:solidFill>
                <a:latin typeface="Aptos"/>
              </a:rPr>
              <a:t>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920240" y="5824728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938528" y="5833872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880360" y="5824728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2898648" y="5833872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840480" y="5824728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3858768" y="5833872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4800600" y="5824728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4818888" y="5833872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5760720" y="5824728"/>
            <a:ext cx="960120" cy="292608"/>
          </a:xfrm>
          <a:prstGeom prst="rect">
            <a:avLst/>
          </a:prstGeom>
          <a:solidFill>
            <a:srgbClr val="004659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5779007" y="5833872"/>
            <a:ext cx="923544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3E1AA"/>
                </a:solidFill>
                <a:latin typeface="Aptos"/>
              </a:rPr>
              <a:t>1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132320" y="1508760"/>
            <a:ext cx="420624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DCF5"/>
                </a:solidFill>
                <a:latin typeface="Aptos"/>
              </a:rPr>
              <a:t>Boolean expression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132320" y="1965960"/>
            <a:ext cx="42062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EEF7FF"/>
                </a:solidFill>
                <a:latin typeface="Aptos"/>
              </a:rPr>
              <a:t>A = S(D + W + M)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7086600" y="2743200"/>
            <a:ext cx="4297680" cy="1051560"/>
          </a:xfrm>
          <a:prstGeom prst="roundRect">
            <a:avLst>
              <a:gd name="adj" fmla="val 8000"/>
            </a:avLst>
          </a:prstGeom>
          <a:solidFill>
            <a:srgbClr val="092740"/>
          </a:solidFill>
          <a:ln w="15240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7315200" y="2907792"/>
            <a:ext cx="3840480" cy="7132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EF7FF"/>
                </a:solidFill>
                <a:latin typeface="Aptos"/>
              </a:rPr>
              <a:t>When S = 0, the alarm is always OFF.
When S = 1, any active sensor turns it ON.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132320" y="4160520"/>
            <a:ext cx="201168" cy="201168"/>
          </a:xfrm>
          <a:prstGeom prst="rect">
            <a:avLst/>
          </a:prstGeom>
          <a:solidFill>
            <a:srgbClr val="004659"/>
          </a:solidFill>
          <a:ln w="15240">
            <a:solidFill>
              <a:srgbClr val="0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7452360" y="4096512"/>
            <a:ext cx="38404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E1AA"/>
                </a:solidFill>
                <a:latin typeface="Aptos"/>
              </a:rPr>
              <a:t>Highlighted rows: Alarm =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20040" y="411480"/>
            <a:ext cx="960120" cy="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20040" y="411480"/>
            <a:ext cx="0" cy="41148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881360" y="6355080"/>
            <a:ext cx="960120" cy="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41480" y="5943600"/>
            <a:ext cx="0" cy="41148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EEF7FF"/>
                </a:solidFill>
                <a:latin typeface="Aptos"/>
              </a:rPr>
              <a:t>Logisim Simulation and Test Cases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932688"/>
            <a:ext cx="11128248" cy="0"/>
          </a:xfrm>
          <a:prstGeom prst="line">
            <a:avLst/>
          </a:prstGeom>
          <a:ln w="2032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292840" y="256032"/>
            <a:ext cx="411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ACCADE"/>
                </a:solidFill>
                <a:latin typeface="Aptos"/>
              </a:rPr>
              <a:t>6/7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143000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CCADE"/>
                </a:solidFill>
                <a:latin typeface="Aptos"/>
              </a:rPr>
              <a:t>Test the input switches and confirm that the LED matches the expected alarm state.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600200"/>
            <a:ext cx="914400" cy="438912"/>
          </a:xfrm>
          <a:prstGeom prst="rect">
            <a:avLst/>
          </a:prstGeom>
          <a:solidFill>
            <a:srgbClr val="092740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1609344"/>
            <a:ext cx="87782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DCF5"/>
                </a:solidFill>
                <a:latin typeface="Aptos"/>
              </a:rPr>
              <a:t>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1600200"/>
            <a:ext cx="731520" cy="438912"/>
          </a:xfrm>
          <a:prstGeom prst="rect">
            <a:avLst/>
          </a:prstGeom>
          <a:solidFill>
            <a:srgbClr val="092740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27048" y="1609344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DCF5"/>
                </a:solidFill>
                <a:latin typeface="Aptos"/>
              </a:rPr>
              <a:t>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1600200"/>
            <a:ext cx="731520" cy="438912"/>
          </a:xfrm>
          <a:prstGeom prst="rect">
            <a:avLst/>
          </a:prstGeom>
          <a:solidFill>
            <a:srgbClr val="092740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58568" y="1609344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DCF5"/>
                </a:solidFill>
                <a:latin typeface="Aptos"/>
              </a:rPr>
              <a:t>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1600200"/>
            <a:ext cx="731520" cy="438912"/>
          </a:xfrm>
          <a:prstGeom prst="rect">
            <a:avLst/>
          </a:prstGeom>
          <a:solidFill>
            <a:srgbClr val="092740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90088" y="1609344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DCF5"/>
                </a:solidFill>
                <a:latin typeface="Aptos"/>
              </a:rPr>
              <a:t>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3320" y="1600200"/>
            <a:ext cx="731520" cy="438912"/>
          </a:xfrm>
          <a:prstGeom prst="rect">
            <a:avLst/>
          </a:prstGeom>
          <a:solidFill>
            <a:srgbClr val="092740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21607" y="1609344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DCF5"/>
                </a:solidFill>
                <a:latin typeface="Aptos"/>
              </a:rPr>
              <a:t>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1600200"/>
            <a:ext cx="1325880" cy="438912"/>
          </a:xfrm>
          <a:prstGeom prst="rect">
            <a:avLst/>
          </a:prstGeom>
          <a:solidFill>
            <a:srgbClr val="092740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7" y="1609344"/>
            <a:ext cx="128930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DCF5"/>
                </a:solidFill>
                <a:latin typeface="Aptos"/>
              </a:rPr>
              <a:t>Expected 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2039112"/>
            <a:ext cx="91440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2048255"/>
            <a:ext cx="87782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08760" y="2039112"/>
            <a:ext cx="73152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27048" y="2048255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2039112"/>
            <a:ext cx="73152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58568" y="2048255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71800" y="2039112"/>
            <a:ext cx="73152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90088" y="2048255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3320" y="2039112"/>
            <a:ext cx="73152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21607" y="2048255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34840" y="2039112"/>
            <a:ext cx="132588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53127" y="2048255"/>
            <a:ext cx="128930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478024"/>
            <a:ext cx="91440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2648" y="2487168"/>
            <a:ext cx="87782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08760" y="2478024"/>
            <a:ext cx="73152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527048" y="2487168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2478024"/>
            <a:ext cx="73152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58568" y="2487168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71800" y="2478024"/>
            <a:ext cx="73152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90088" y="2487168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03320" y="2478024"/>
            <a:ext cx="73152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721607" y="2487168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34840" y="2478024"/>
            <a:ext cx="132588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53127" y="2487168"/>
            <a:ext cx="128930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2916936"/>
            <a:ext cx="91440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2648" y="2926079"/>
            <a:ext cx="87782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08760" y="2916936"/>
            <a:ext cx="73152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527048" y="2926079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40280" y="2916936"/>
            <a:ext cx="73152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258568" y="2926079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71800" y="2916936"/>
            <a:ext cx="73152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990088" y="2926079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03320" y="2916936"/>
            <a:ext cx="73152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721607" y="2926079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34840" y="2916936"/>
            <a:ext cx="132588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53127" y="2926079"/>
            <a:ext cx="128930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3355848"/>
            <a:ext cx="91440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2648" y="3364991"/>
            <a:ext cx="87782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508760" y="3355848"/>
            <a:ext cx="73152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527048" y="3364991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40280" y="3355848"/>
            <a:ext cx="73152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258568" y="3364991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71800" y="3355848"/>
            <a:ext cx="73152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990088" y="3364991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703320" y="3355848"/>
            <a:ext cx="73152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721607" y="3364991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4840" y="3355848"/>
            <a:ext cx="132588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453127" y="3364991"/>
            <a:ext cx="128930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" y="3794760"/>
            <a:ext cx="91440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12648" y="3803904"/>
            <a:ext cx="87782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08760" y="3794760"/>
            <a:ext cx="73152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527048" y="3803904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40280" y="3794760"/>
            <a:ext cx="73152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258568" y="3803904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971800" y="3794760"/>
            <a:ext cx="73152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990088" y="3803904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703320" y="3794760"/>
            <a:ext cx="73152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721607" y="3803904"/>
            <a:ext cx="69494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434840" y="3794760"/>
            <a:ext cx="1325880" cy="438912"/>
          </a:xfrm>
          <a:prstGeom prst="rect">
            <a:avLst/>
          </a:prstGeom>
          <a:solidFill>
            <a:srgbClr val="071D32"/>
          </a:solidFill>
          <a:ln w="8255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453127" y="3803904"/>
            <a:ext cx="1289304" cy="42062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0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17920" y="1600200"/>
            <a:ext cx="5349240" cy="2331720"/>
          </a:xfrm>
          <a:prstGeom prst="roundRect">
            <a:avLst>
              <a:gd name="adj" fmla="val 8000"/>
            </a:avLst>
          </a:prstGeom>
          <a:solidFill>
            <a:srgbClr val="031424"/>
          </a:solidFill>
          <a:ln w="17780">
            <a:solidFill>
              <a:srgbClr val="0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355080" y="2400300"/>
            <a:ext cx="5074920" cy="731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DCF5"/>
                </a:solidFill>
                <a:latin typeface="Aptos"/>
              </a:rPr>
              <a:t>＋
INSERT LOGISIM
SIMULATION SCREENSHOT HERE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2648" y="4549140"/>
            <a:ext cx="5166360" cy="1600200"/>
          </a:xfrm>
          <a:prstGeom prst="roundRect">
            <a:avLst>
              <a:gd name="adj" fmla="val 8000"/>
            </a:avLst>
          </a:prstGeom>
          <a:solidFill>
            <a:srgbClr val="031424"/>
          </a:solidFill>
          <a:ln w="17780">
            <a:solidFill>
              <a:srgbClr val="0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31520" y="4686300"/>
            <a:ext cx="4892040" cy="731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00DCF5"/>
                </a:solidFill>
                <a:latin typeface="Aptos"/>
              </a:rPr>
              <a:t>＋
INSERT SECOND SCREENSHOT
SHOWING ALARM 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217920" y="4251960"/>
            <a:ext cx="5349240" cy="1600200"/>
          </a:xfrm>
          <a:prstGeom prst="roundRect">
            <a:avLst>
              <a:gd name="adj" fmla="val 8000"/>
            </a:avLst>
          </a:prstGeom>
          <a:solidFill>
            <a:srgbClr val="071D32"/>
          </a:solidFill>
          <a:ln w="15240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446520" y="4434840"/>
            <a:ext cx="48463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DCF5"/>
                </a:solidFill>
                <a:latin typeface="Aptos"/>
              </a:rPr>
              <a:t>SIMULATION CHECKLIST</a:t>
            </a:r>
          </a:p>
        </p:txBody>
      </p:sp>
      <p:sp>
        <p:nvSpPr>
          <p:cNvPr id="88" name="Oval 87"/>
          <p:cNvSpPr/>
          <p:nvPr/>
        </p:nvSpPr>
        <p:spPr>
          <a:xfrm>
            <a:off x="6446520" y="4919472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611112" y="4828032"/>
            <a:ext cx="45445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Case 1: disarmed → alarm OFF</a:t>
            </a:r>
          </a:p>
        </p:txBody>
      </p:sp>
      <p:sp>
        <p:nvSpPr>
          <p:cNvPr id="90" name="Oval 89"/>
          <p:cNvSpPr/>
          <p:nvPr/>
        </p:nvSpPr>
        <p:spPr>
          <a:xfrm>
            <a:off x="6446520" y="5248656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611112" y="5157216"/>
            <a:ext cx="45445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Cases 2–4: armed + intrusion → alarm ON</a:t>
            </a:r>
          </a:p>
        </p:txBody>
      </p:sp>
      <p:sp>
        <p:nvSpPr>
          <p:cNvPr id="92" name="Oval 91"/>
          <p:cNvSpPr/>
          <p:nvPr/>
        </p:nvSpPr>
        <p:spPr>
          <a:xfrm>
            <a:off x="6446520" y="5577840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611112" y="5486400"/>
            <a:ext cx="45445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EF7FF"/>
                </a:solidFill>
                <a:latin typeface="Aptos"/>
              </a:rPr>
              <a:t>Case 5: armed + no intrusion → alarm OFF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B298BB52-8F10-CFDF-DE8C-E1B8D9FB6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349240" cy="2331720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8A7B5889-956E-052E-4AA1-85D918496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434844"/>
            <a:ext cx="5248656" cy="2011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20040" y="411480"/>
            <a:ext cx="960120" cy="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20040" y="411480"/>
            <a:ext cx="0" cy="41148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881360" y="6355080"/>
            <a:ext cx="960120" cy="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41480" y="5943600"/>
            <a:ext cx="0" cy="411480"/>
          </a:xfrm>
          <a:prstGeom prst="line">
            <a:avLst/>
          </a:prstGeom>
          <a:ln w="16510">
            <a:solidFill>
              <a:srgbClr val="146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EEF7FF"/>
                </a:solidFill>
                <a:latin typeface="Aptos"/>
              </a:rPr>
              <a:t>Conclusion &amp; Future Scope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932688"/>
            <a:ext cx="11128248" cy="0"/>
          </a:xfrm>
          <a:prstGeom prst="line">
            <a:avLst/>
          </a:prstGeom>
          <a:ln w="2032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292840" y="256032"/>
            <a:ext cx="411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ACCADE"/>
                </a:solidFill>
                <a:latin typeface="Aptos"/>
              </a:rPr>
              <a:t>7/7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80160"/>
            <a:ext cx="5486400" cy="4251960"/>
          </a:xfrm>
          <a:prstGeom prst="roundRect">
            <a:avLst>
              <a:gd name="adj" fmla="val 8000"/>
            </a:avLst>
          </a:prstGeom>
          <a:solidFill>
            <a:srgbClr val="071D32"/>
          </a:solidFill>
          <a:ln w="15240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493776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DCF5"/>
                </a:solidFill>
                <a:latin typeface="Aptos"/>
              </a:rPr>
              <a:t>CONCLUSION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148840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2057400"/>
            <a:ext cx="4636008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EF7FF"/>
                </a:solidFill>
                <a:latin typeface="Aptos"/>
              </a:rPr>
              <a:t>Designed a combinational smart home security system.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752344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2660904"/>
            <a:ext cx="4636008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EF7FF"/>
                </a:solidFill>
                <a:latin typeface="Aptos"/>
              </a:rPr>
              <a:t>Used basic OR and AND logic gates.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355848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3264408"/>
            <a:ext cx="4636008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EF7FF"/>
                </a:solidFill>
                <a:latin typeface="Aptos"/>
              </a:rPr>
              <a:t>Implemented A = S(D + W + M).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959352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3867912"/>
            <a:ext cx="4636008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EF7FF"/>
                </a:solidFill>
                <a:latin typeface="Aptos"/>
              </a:rPr>
              <a:t>Truth table and Logisim tests verify expected output.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562856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4471416"/>
            <a:ext cx="4636008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EF7FF"/>
                </a:solidFill>
                <a:latin typeface="Aptos"/>
              </a:rPr>
              <a:t>Demonstrates a practical application of digital logic.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280160"/>
            <a:ext cx="5257800" cy="4251960"/>
          </a:xfrm>
          <a:prstGeom prst="roundRect">
            <a:avLst>
              <a:gd name="adj" fmla="val 8000"/>
            </a:avLst>
          </a:prstGeom>
          <a:solidFill>
            <a:srgbClr val="071D32"/>
          </a:solidFill>
          <a:ln w="15240">
            <a:solidFill>
              <a:srgbClr val="146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1554480"/>
            <a:ext cx="46634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DCF5"/>
                </a:solidFill>
                <a:latin typeface="Aptos"/>
              </a:rPr>
              <a:t>FUTURE SCOPE</a:t>
            </a:r>
          </a:p>
        </p:txBody>
      </p:sp>
      <p:sp>
        <p:nvSpPr>
          <p:cNvPr id="23" name="Oval 22"/>
          <p:cNvSpPr/>
          <p:nvPr/>
        </p:nvSpPr>
        <p:spPr>
          <a:xfrm>
            <a:off x="6629400" y="2148840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93992" y="2057400"/>
            <a:ext cx="4361688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EF7FF"/>
                </a:solidFill>
                <a:latin typeface="Aptos"/>
              </a:rPr>
              <a:t>Add multiple security zones.</a:t>
            </a:r>
          </a:p>
        </p:txBody>
      </p:sp>
      <p:sp>
        <p:nvSpPr>
          <p:cNvPr id="25" name="Oval 24"/>
          <p:cNvSpPr/>
          <p:nvPr/>
        </p:nvSpPr>
        <p:spPr>
          <a:xfrm>
            <a:off x="6629400" y="2752344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93992" y="2660904"/>
            <a:ext cx="4361688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EF7FF"/>
                </a:solidFill>
                <a:latin typeface="Aptos"/>
              </a:rPr>
              <a:t>Add password/keypad-based activation.</a:t>
            </a:r>
          </a:p>
        </p:txBody>
      </p:sp>
      <p:sp>
        <p:nvSpPr>
          <p:cNvPr id="27" name="Oval 26"/>
          <p:cNvSpPr/>
          <p:nvPr/>
        </p:nvSpPr>
        <p:spPr>
          <a:xfrm>
            <a:off x="6629400" y="3355848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93992" y="3264408"/>
            <a:ext cx="4361688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EF7FF"/>
                </a:solidFill>
                <a:latin typeface="Aptos"/>
              </a:rPr>
              <a:t>Add buzzer and visual indicators.</a:t>
            </a:r>
          </a:p>
        </p:txBody>
      </p:sp>
      <p:sp>
        <p:nvSpPr>
          <p:cNvPr id="29" name="Oval 28"/>
          <p:cNvSpPr/>
          <p:nvPr/>
        </p:nvSpPr>
        <p:spPr>
          <a:xfrm>
            <a:off x="6629400" y="3959352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93992" y="3867912"/>
            <a:ext cx="4361688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EF7FF"/>
                </a:solidFill>
                <a:latin typeface="Aptos"/>
              </a:rPr>
              <a:t>Connect the logic system to real sensors.</a:t>
            </a:r>
          </a:p>
        </p:txBody>
      </p:sp>
      <p:sp>
        <p:nvSpPr>
          <p:cNvPr id="31" name="Oval 30"/>
          <p:cNvSpPr/>
          <p:nvPr/>
        </p:nvSpPr>
        <p:spPr>
          <a:xfrm>
            <a:off x="6629400" y="4562856"/>
            <a:ext cx="73152" cy="73152"/>
          </a:xfrm>
          <a:prstGeom prst="ellipse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93992" y="4471416"/>
            <a:ext cx="4361688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EF7FF"/>
                </a:solidFill>
                <a:latin typeface="Aptos"/>
              </a:rPr>
              <a:t>Explore IoT-based extensions as future work.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474720" y="5989320"/>
            <a:ext cx="1188720" cy="0"/>
          </a:xfrm>
          <a:prstGeom prst="line">
            <a:avLst/>
          </a:prstGeom>
          <a:ln w="2286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709160" y="5760720"/>
            <a:ext cx="283464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00DCF5"/>
                </a:solidFill>
                <a:latin typeface="Aptos"/>
              </a:rPr>
              <a:t>THANK YOU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543800" y="5989320"/>
            <a:ext cx="1188720" cy="0"/>
          </a:xfrm>
          <a:prstGeom prst="line">
            <a:avLst/>
          </a:prstGeom>
          <a:ln w="2286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595</Words>
  <Application>Microsoft Office PowerPoint</Application>
  <PresentationFormat>Widescreen</PresentationFormat>
  <Paragraphs>226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Dhikshitha</dc:creator>
  <cp:keywords/>
  <dc:description>generated using python-pptx</dc:description>
  <cp:lastModifiedBy>vayyala dhikshitha</cp:lastModifiedBy>
  <cp:revision>4</cp:revision>
  <dcterms:created xsi:type="dcterms:W3CDTF">2013-01-27T09:14:16Z</dcterms:created>
  <dcterms:modified xsi:type="dcterms:W3CDTF">2026-10-15T06:01:09Z</dcterms:modified>
  <cp:category/>
</cp:coreProperties>
</file>