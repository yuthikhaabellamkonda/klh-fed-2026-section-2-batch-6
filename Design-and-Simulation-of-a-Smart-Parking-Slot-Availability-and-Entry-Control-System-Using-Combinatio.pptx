
<file path=[Content_Types].xml><?xml version="1.0" encoding="utf-8"?>
<Types xmlns="http://schemas.openxmlformats.org/package/2006/content-types">
  <Default Extension="fntdata" ContentType="application/x-fontdata"/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true" autoCompressPictures="0" embedTrueTypeFonts="true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</p:sldIdLst>
  <p:notesMasterIdLst>
    <p:notesMasterId r:id="rId8"/>
  </p:notesMasterIdLst>
  <p:sldSz cx="12191695" cy="6858000"/>
  <p:notesSz cx="6858000" cy="12191695"/>
  <p:embeddedFontLst>
    <p:embeddedFont>
      <p:font typeface="Arimo"/>
      <p:regular r:id="rId201314"/>
    </p:embeddedFont>
    <p:embeddedFont>
      <p:font typeface="Arimo SemiBold"/>
      <p:regular r:id="rId201315"/>
    </p:embeddedFont>
    <p:embeddedFont>
      <p:font typeface="Arimo Bold"/>
      <p:regular r:id="rId201316"/>
    </p:embeddedFont>
    <p:embeddedFont>
      <p:font typeface="Outfit"/>
      <p:regular r:id="rId201317"/>
    </p:embeddedFont>
    <p:embeddedFont>
      <p:font typeface="Outfit SemiBold"/>
      <p:regular r:id="rId201318"/>
    </p:embeddedFont>
    <p:embeddedFont>
      <p:font typeface="Outfit Bold"/>
      <p:regular r:id="rId201319"/>
    </p:embeddedFont>
    <p:embeddedFont>
      <p:font typeface="Outfit ExtraBold"/>
      <p:regular r:id="rId201320"/>
    </p:embeddedFont>
    <p:embeddedFont>
      <p:font typeface="Outfit Black"/>
      <p:regular r:id="rId201321"/>
    </p:embeddedFont>
  </p:embeddedFontLst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notesMaster" Target="notesMasters/notesMaster1.xml"/><Relationship Id="rId9" Type="http://schemas.openxmlformats.org/officeDocument/2006/relationships/presProps" Target="presProps.xml"/><Relationship Id="rId10" Type="http://schemas.openxmlformats.org/officeDocument/2006/relationships/viewProps" Target="viewProps.xml"/><Relationship Id="rId11" Type="http://schemas.openxmlformats.org/officeDocument/2006/relationships/theme" Target="theme/theme1.xml"/><Relationship Id="rId12" Type="http://schemas.openxmlformats.org/officeDocument/2006/relationships/tableStyles" Target="tableStyles.xml"/><Relationship Id="rId201314" Target="fonts/201314.fntdata" Type="http://schemas.openxmlformats.org/officeDocument/2006/relationships/font"/><Relationship Id="rId201315" Target="fonts/201315.fntdata" Type="http://schemas.openxmlformats.org/officeDocument/2006/relationships/font"/><Relationship Id="rId201316" Target="fonts/201316.fntdata" Type="http://schemas.openxmlformats.org/officeDocument/2006/relationships/font"/><Relationship Id="rId201317" Target="fonts/201317.fntdata" Type="http://schemas.openxmlformats.org/officeDocument/2006/relationships/font"/><Relationship Id="rId201318" Target="fonts/201318.fntdata" Type="http://schemas.openxmlformats.org/officeDocument/2006/relationships/font"/><Relationship Id="rId201319" Target="fonts/201319.fntdata" Type="http://schemas.openxmlformats.org/officeDocument/2006/relationships/font"/><Relationship Id="rId201320" Target="fonts/201320.fntdata" Type="http://schemas.openxmlformats.org/officeDocument/2006/relationships/font"/><Relationship Id="rId201321" Target="fonts/201321.fntdata" Type="http://schemas.openxmlformats.org/officeDocument/2006/relationships/font"/><Relationship Id="rId201322" Target="fonts/201322.fntdata" Type="http://schemas.openxmlformats.org/officeDocument/2006/relationships/font"/><Relationship Id="rId201323" Target="fonts/201323.fntdata" Type="http://schemas.openxmlformats.org/officeDocument/2006/relationships/font"/><Relationship Id="rId201324" Target="fonts/201324.fntdata" Type="http://schemas.openxmlformats.org/officeDocument/2006/relationships/font"/><Relationship Id="rId201325" Target="fonts/201325.fntdata" Type="http://schemas.openxmlformats.org/officeDocument/2006/relationships/font"/><Relationship Id="rId201326" Target="fonts/201326.fntdata" Type="http://schemas.openxmlformats.org/officeDocument/2006/relationships/font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3" Type="http://schemas.openxmlformats.org/officeDocument/2006/relationships/hyperlink" Target="https://gamma.app/?utm_source=made-with-gamma" TargetMode="External"/><Relationship Id="rId1" Type="http://schemas.openxmlformats.org/officeDocument/2006/relationships/image" Target="../media/image-1002-1.jpeg"/><Relationship Id="rId2" Type="http://schemas.openxmlformats.org/officeDocument/2006/relationships/image" Target="../media/image-1002-2.png"/><Relationship Id="rId4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master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AFAFA">
              <a:alpha val="95000"/>
            </a:srgbClr>
          </a:solidFill>
          <a:ln/>
        </p:spPr>
      </p:sp>
      <p:pic>
        <p:nvPicPr>
          <p:cNvPr id="4" name="Image 1" descr="preencoded.png">
            <a:hlinkClick r:id="rId3" tooltip=""/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076875" y="6558991"/>
            <a:ext cx="1071843" cy="256032"/>
          </a:xfrm>
          <a:prstGeom prst="rect">
            <a:avLst/>
          </a:prstGeom>
        </p:spPr>
      </p:pic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-1.png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-1.jpeg"/><Relationship Id="rId2" Type="http://schemas.openxmlformats.org/officeDocument/2006/relationships/image" Target="../media/image-4-2.jpeg"/><Relationship Id="rId3" Type="http://schemas.openxmlformats.org/officeDocument/2006/relationships/image" Target="../media/image-4-3.jpeg"/><Relationship Id="rId4" Type="http://schemas.openxmlformats.org/officeDocument/2006/relationships/slideLayout" Target="../slideLayouts/slideLayout2.xml"/><Relationship Id="rId5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6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61475" y="1197868"/>
            <a:ext cx="10868745" cy="155019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lnSpc>
                <a:spcPct val="104000"/>
              </a:lnSpc>
              <a:buNone/>
            </a:pPr>
            <a:r>
              <a:rPr lang="en-US" sz="3250" dirty="0">
                <a:solidFill>
                  <a:srgbClr val="231971"/>
                </a:solidFill>
                <a:latin typeface="Outfit ExtraBold" pitchFamily="34" charset="0"/>
                <a:ea typeface="Outfit ExtraBold" pitchFamily="34" charset="-122"/>
                <a:cs typeface="Outfit ExtraBold" pitchFamily="34" charset="-120"/>
              </a:rPr>
              <a:t>Design and Simulation of a Smart Parking Slot Availability and Entry Control System Using Combinational Logic</a:t>
            </a:r>
            <a:endParaRPr lang="en-US" sz="3250" dirty="0"/>
          </a:p>
        </p:txBody>
      </p:sp>
      <p:sp>
        <p:nvSpPr>
          <p:cNvPr id="3" name="Shape 1"/>
          <p:cNvSpPr/>
          <p:nvPr/>
        </p:nvSpPr>
        <p:spPr>
          <a:xfrm>
            <a:off x="4067470" y="3529409"/>
            <a:ext cx="4056755" cy="251420"/>
          </a:xfrm>
          <a:prstGeom prst="roundRect">
            <a:avLst>
              <a:gd name="adj" fmla="val 22103"/>
            </a:avLst>
          </a:prstGeom>
          <a:solidFill>
            <a:srgbClr val="D7D2F9"/>
          </a:solidFill>
          <a:ln/>
        </p:spPr>
      </p:sp>
      <p:sp>
        <p:nvSpPr>
          <p:cNvPr id="4" name="Text 2"/>
          <p:cNvSpPr/>
          <p:nvPr/>
        </p:nvSpPr>
        <p:spPr>
          <a:xfrm>
            <a:off x="4166686" y="3579019"/>
            <a:ext cx="4467907" cy="15220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96000"/>
              </a:lnSpc>
              <a:buNone/>
            </a:pPr>
            <a:r>
              <a:rPr lang="en-US" sz="1000" dirty="0">
                <a:solidFill>
                  <a:srgbClr val="2A2742"/>
                </a:solidFill>
                <a:latin typeface="Arimo" pitchFamily="34" charset="0"/>
                <a:ea typeface="Arimo" pitchFamily="34" charset="-122"/>
                <a:cs typeface="Arimo" pitchFamily="34" charset="-120"/>
              </a:rPr>
              <a:t>DIGITAL DESIGN &amp; COMPUTER ARCHITECTURE · 26EC1202E</a:t>
            </a:r>
            <a:endParaRPr lang="en-US" sz="1000" dirty="0"/>
          </a:p>
        </p:txBody>
      </p:sp>
      <p:sp>
        <p:nvSpPr>
          <p:cNvPr id="5" name="Shape 3"/>
          <p:cNvSpPr/>
          <p:nvPr/>
        </p:nvSpPr>
        <p:spPr>
          <a:xfrm>
            <a:off x="661475" y="3966865"/>
            <a:ext cx="10868745" cy="1693267"/>
          </a:xfrm>
          <a:prstGeom prst="roundRect">
            <a:avLst>
              <a:gd name="adj" fmla="val 4102"/>
            </a:avLst>
          </a:prstGeom>
          <a:solidFill>
            <a:srgbClr val="E9E6FA"/>
          </a:solidFill>
          <a:ln w="6350">
            <a:solidFill>
              <a:srgbClr val="BDB8DF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667825" y="3973215"/>
            <a:ext cx="10856046" cy="1680567"/>
          </a:xfrm>
          <a:prstGeom prst="roundRect">
            <a:avLst>
              <a:gd name="adj" fmla="val 4133"/>
            </a:avLst>
          </a:prstGeom>
          <a:solidFill>
            <a:srgbClr val="E9E6FA"/>
          </a:solidFill>
          <a:ln/>
        </p:spPr>
      </p:sp>
      <p:sp>
        <p:nvSpPr>
          <p:cNvPr id="7" name="Text 5"/>
          <p:cNvSpPr/>
          <p:nvPr/>
        </p:nvSpPr>
        <p:spPr>
          <a:xfrm>
            <a:off x="833119" y="4138513"/>
            <a:ext cx="10525457" cy="25846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600" dirty="0">
                <a:solidFill>
                  <a:srgbClr val="2A2742"/>
                </a:solidFill>
                <a:latin typeface="Outfit ExtraBold" pitchFamily="34" charset="0"/>
                <a:ea typeface="Outfit ExtraBold" pitchFamily="34" charset="-122"/>
                <a:cs typeface="Outfit ExtraBold" pitchFamily="34" charset="-120"/>
              </a:rPr>
              <a:t>Team Members:</a:t>
            </a:r>
            <a:endParaRPr lang="en-US" sz="1600" dirty="0"/>
          </a:p>
        </p:txBody>
      </p:sp>
      <p:sp>
        <p:nvSpPr>
          <p:cNvPr id="8" name="Text 6"/>
          <p:cNvSpPr/>
          <p:nvPr/>
        </p:nvSpPr>
        <p:spPr>
          <a:xfrm>
            <a:off x="833119" y="4496197"/>
            <a:ext cx="10525457" cy="992287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33000"/>
              </a:lnSpc>
              <a:spcAft>
                <a:spcPts val="750"/>
              </a:spcAft>
              <a:buNone/>
            </a:pPr>
            <a:r>
              <a:rPr lang="en-US" sz="1300" dirty="0">
                <a:solidFill>
                  <a:srgbClr val="2A2742"/>
                </a:solidFill>
                <a:latin typeface="Arimo" pitchFamily="34" charset="0"/>
                <a:ea typeface="Arimo" pitchFamily="34" charset="-122"/>
                <a:cs typeface="Arimo" pitchFamily="34" charset="-120"/>
              </a:rPr>
              <a:t>2620040055  Yuthikhaa Bellamkonda</a:t>
            </a:r>
            <a:endParaRPr lang="en-US" sz="1300" dirty="0"/>
          </a:p>
          <a:p>
            <a:pPr algn="l" indent="0" marL="0">
              <a:lnSpc>
                <a:spcPct val="133000"/>
              </a:lnSpc>
              <a:spcAft>
                <a:spcPts val="750"/>
              </a:spcAft>
              <a:buNone/>
            </a:pPr>
            <a:r>
              <a:rPr lang="en-US" sz="1300" dirty="0">
                <a:solidFill>
                  <a:srgbClr val="2A2742"/>
                </a:solidFill>
                <a:latin typeface="Arimo" pitchFamily="34" charset="0"/>
                <a:ea typeface="Arimo" pitchFamily="34" charset="-122"/>
                <a:cs typeface="Arimo" pitchFamily="34" charset="-120"/>
              </a:rPr>
              <a:t>2620030310  Vayyala Dhikshitha</a:t>
            </a:r>
            <a:endParaRPr lang="en-US" sz="1300" dirty="0"/>
          </a:p>
          <a:p>
            <a:pPr algn="l" indent="0" marL="0">
              <a:lnSpc>
                <a:spcPct val="133000"/>
              </a:lnSpc>
              <a:buNone/>
            </a:pPr>
            <a:r>
              <a:rPr lang="en-US" sz="1300" dirty="0">
                <a:solidFill>
                  <a:srgbClr val="2A2742"/>
                </a:solidFill>
                <a:latin typeface="Arimo" pitchFamily="34" charset="0"/>
                <a:ea typeface="Arimo" pitchFamily="34" charset="-122"/>
                <a:cs typeface="Arimo" pitchFamily="34" charset="-120"/>
              </a:rPr>
              <a:t>2620030311   Neerukonda Charishma</a:t>
            </a:r>
            <a:endParaRPr lang="en-US" sz="13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61475" y="1566863"/>
            <a:ext cx="1021729" cy="251420"/>
          </a:xfrm>
          <a:prstGeom prst="roundRect">
            <a:avLst>
              <a:gd name="adj" fmla="val 22103"/>
            </a:avLst>
          </a:prstGeom>
          <a:noFill/>
          <a:ln w="6350">
            <a:solidFill>
              <a:srgbClr val="5E4CE6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760691" y="1616472"/>
            <a:ext cx="1432881" cy="15220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96000"/>
              </a:lnSpc>
              <a:buNone/>
            </a:pPr>
            <a:r>
              <a:rPr lang="en-US" sz="1000" dirty="0">
                <a:solidFill>
                  <a:srgbClr val="5E4CE6"/>
                </a:solidFill>
                <a:latin typeface="Arimo" pitchFamily="34" charset="0"/>
                <a:ea typeface="Arimo" pitchFamily="34" charset="-122"/>
                <a:cs typeface="Arimo" pitchFamily="34" charset="-120"/>
              </a:rPr>
              <a:t>SLIDE 2 OF 7</a:t>
            </a:r>
            <a:endParaRPr lang="en-US" sz="1000" dirty="0"/>
          </a:p>
        </p:txBody>
      </p:sp>
      <p:sp>
        <p:nvSpPr>
          <p:cNvPr id="4" name="Text 2"/>
          <p:cNvSpPr/>
          <p:nvPr/>
        </p:nvSpPr>
        <p:spPr>
          <a:xfrm>
            <a:off x="661475" y="1884363"/>
            <a:ext cx="10868745" cy="51673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3250" dirty="0">
                <a:solidFill>
                  <a:srgbClr val="231971"/>
                </a:solidFill>
                <a:latin typeface="Outfit ExtraBold" pitchFamily="34" charset="0"/>
                <a:ea typeface="Outfit ExtraBold" pitchFamily="34" charset="-122"/>
                <a:cs typeface="Outfit ExtraBold" pitchFamily="34" charset="-120"/>
              </a:rPr>
              <a:t>Problem Statement &amp; Objectives</a:t>
            </a:r>
            <a:endParaRPr lang="en-US" sz="3250" dirty="0"/>
          </a:p>
        </p:txBody>
      </p:sp>
      <p:sp>
        <p:nvSpPr>
          <p:cNvPr id="5" name="Text 3"/>
          <p:cNvSpPr/>
          <p:nvPr/>
        </p:nvSpPr>
        <p:spPr>
          <a:xfrm>
            <a:off x="661475" y="2467173"/>
            <a:ext cx="10868745" cy="25846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600" dirty="0">
                <a:solidFill>
                  <a:srgbClr val="231971"/>
                </a:solidFill>
                <a:latin typeface="Outfit ExtraBold" pitchFamily="34" charset="0"/>
                <a:ea typeface="Outfit ExtraBold" pitchFamily="34" charset="-122"/>
                <a:cs typeface="Outfit ExtraBold" pitchFamily="34" charset="-120"/>
              </a:rPr>
              <a:t>System Objectives</a:t>
            </a:r>
            <a:endParaRPr lang="en-US" sz="1600" dirty="0"/>
          </a:p>
        </p:txBody>
      </p:sp>
      <p:sp>
        <p:nvSpPr>
          <p:cNvPr id="6" name="Text 4"/>
          <p:cNvSpPr/>
          <p:nvPr/>
        </p:nvSpPr>
        <p:spPr>
          <a:xfrm>
            <a:off x="723485" y="3004691"/>
            <a:ext cx="248041" cy="310059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lnSpc>
                <a:spcPct val="100000"/>
              </a:lnSpc>
              <a:buNone/>
            </a:pPr>
            <a:r>
              <a:rPr lang="en-US" sz="1950" dirty="0">
                <a:solidFill>
                  <a:srgbClr val="5E4CE6"/>
                </a:solidFill>
                <a:latin typeface="Outfit ExtraBold" pitchFamily="34" charset="0"/>
                <a:ea typeface="Outfit ExtraBold" pitchFamily="34" charset="-122"/>
                <a:cs typeface="Outfit ExtraBold" pitchFamily="34" charset="-120"/>
              </a:rPr>
              <a:t>1</a:t>
            </a:r>
            <a:endParaRPr lang="en-US" sz="1950" dirty="0"/>
          </a:p>
        </p:txBody>
      </p:sp>
      <p:sp>
        <p:nvSpPr>
          <p:cNvPr id="7" name="Text 5"/>
          <p:cNvSpPr/>
          <p:nvPr/>
        </p:nvSpPr>
        <p:spPr>
          <a:xfrm>
            <a:off x="1198830" y="3030538"/>
            <a:ext cx="4793634" cy="25846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600" dirty="0">
                <a:solidFill>
                  <a:srgbClr val="2A2742"/>
                </a:solidFill>
                <a:latin typeface="Outfit ExtraBold" pitchFamily="34" charset="0"/>
                <a:ea typeface="Outfit ExtraBold" pitchFamily="34" charset="-122"/>
                <a:cs typeface="Outfit ExtraBold" pitchFamily="34" charset="-120"/>
              </a:rPr>
              <a:t>Binary Representation</a:t>
            </a:r>
            <a:endParaRPr lang="en-US" sz="1600" dirty="0"/>
          </a:p>
        </p:txBody>
      </p:sp>
      <p:sp>
        <p:nvSpPr>
          <p:cNvPr id="8" name="Text 6"/>
          <p:cNvSpPr/>
          <p:nvPr/>
        </p:nvSpPr>
        <p:spPr>
          <a:xfrm>
            <a:off x="1198830" y="3388221"/>
            <a:ext cx="4793634" cy="62845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33000"/>
              </a:lnSpc>
              <a:spcAft>
                <a:spcPts val="750"/>
              </a:spcAft>
              <a:buNone/>
            </a:pPr>
            <a:r>
              <a:rPr lang="en-US" sz="1300" dirty="0">
                <a:solidFill>
                  <a:srgbClr val="2A2742"/>
                </a:solidFill>
                <a:latin typeface="Arimo" pitchFamily="34" charset="0"/>
                <a:ea typeface="Arimo" pitchFamily="34" charset="-122"/>
                <a:cs typeface="Arimo" pitchFamily="34" charset="-120"/>
              </a:rPr>
              <a:t>Represent each parking slot state as a binary value:</a:t>
            </a:r>
            <a:endParaRPr lang="en-US" sz="1300" dirty="0"/>
          </a:p>
          <a:p>
            <a:pPr algn="l" indent="0" marL="0">
              <a:lnSpc>
                <a:spcPct val="133000"/>
              </a:lnSpc>
              <a:buNone/>
            </a:pPr>
            <a:r>
              <a:rPr lang="en-US" sz="1300" dirty="0">
                <a:solidFill>
                  <a:srgbClr val="2A2742"/>
                </a:solidFill>
                <a:latin typeface="Arimo" pitchFamily="34" charset="0"/>
                <a:ea typeface="Arimo" pitchFamily="34" charset="-122"/>
                <a:cs typeface="Arimo" pitchFamily="34" charset="-120"/>
              </a:rPr>
              <a:t> </a:t>
            </a:r>
            <a:pPr algn="l" indent="0" marL="0">
              <a:lnSpc>
                <a:spcPct val="133000"/>
              </a:lnSpc>
              <a:buNone/>
            </a:pPr>
            <a:r>
              <a:rPr lang="en-US" sz="1300" b="1" dirty="0">
                <a:solidFill>
                  <a:srgbClr val="2A2742"/>
                </a:solidFill>
                <a:latin typeface="Arimo Bold" pitchFamily="34" charset="0"/>
                <a:ea typeface="Arimo Bold" pitchFamily="34" charset="-122"/>
                <a:cs typeface="Arimo Bold" pitchFamily="34" charset="-120"/>
              </a:rPr>
              <a:t>0 = Empty, 1 = Occupied</a:t>
            </a:r>
            <a:endParaRPr lang="en-US" sz="1300" dirty="0"/>
          </a:p>
        </p:txBody>
      </p:sp>
      <p:sp>
        <p:nvSpPr>
          <p:cNvPr id="9" name="Text 7"/>
          <p:cNvSpPr/>
          <p:nvPr/>
        </p:nvSpPr>
        <p:spPr>
          <a:xfrm>
            <a:off x="6261142" y="3004691"/>
            <a:ext cx="248041" cy="310059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lnSpc>
                <a:spcPct val="100000"/>
              </a:lnSpc>
              <a:buNone/>
            </a:pPr>
            <a:r>
              <a:rPr lang="en-US" sz="1950" dirty="0">
                <a:solidFill>
                  <a:srgbClr val="5E4CE6"/>
                </a:solidFill>
                <a:latin typeface="Outfit ExtraBold" pitchFamily="34" charset="0"/>
                <a:ea typeface="Outfit ExtraBold" pitchFamily="34" charset="-122"/>
                <a:cs typeface="Outfit ExtraBold" pitchFamily="34" charset="-120"/>
              </a:rPr>
              <a:t>2</a:t>
            </a:r>
            <a:endParaRPr lang="en-US" sz="1950" dirty="0"/>
          </a:p>
        </p:txBody>
      </p:sp>
      <p:sp>
        <p:nvSpPr>
          <p:cNvPr id="10" name="Text 8"/>
          <p:cNvSpPr/>
          <p:nvPr/>
        </p:nvSpPr>
        <p:spPr>
          <a:xfrm>
            <a:off x="6736487" y="3030538"/>
            <a:ext cx="4793733" cy="25846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600" dirty="0">
                <a:solidFill>
                  <a:srgbClr val="2A2742"/>
                </a:solidFill>
                <a:latin typeface="Outfit ExtraBold" pitchFamily="34" charset="0"/>
                <a:ea typeface="Outfit ExtraBold" pitchFamily="34" charset="-122"/>
                <a:cs typeface="Outfit ExtraBold" pitchFamily="34" charset="-120"/>
              </a:rPr>
              <a:t>Availability Detection</a:t>
            </a:r>
            <a:endParaRPr lang="en-US" sz="1600" dirty="0"/>
          </a:p>
        </p:txBody>
      </p:sp>
      <p:sp>
        <p:nvSpPr>
          <p:cNvPr id="11" name="Text 9"/>
          <p:cNvSpPr/>
          <p:nvPr/>
        </p:nvSpPr>
        <p:spPr>
          <a:xfrm>
            <a:off x="6736487" y="3388221"/>
            <a:ext cx="4793733" cy="529233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33000"/>
              </a:lnSpc>
              <a:buNone/>
            </a:pPr>
            <a:r>
              <a:rPr lang="en-US" sz="1300" dirty="0">
                <a:solidFill>
                  <a:srgbClr val="2A2742"/>
                </a:solidFill>
                <a:latin typeface="Arimo" pitchFamily="34" charset="0"/>
                <a:ea typeface="Arimo" pitchFamily="34" charset="-122"/>
                <a:cs typeface="Arimo" pitchFamily="34" charset="-120"/>
              </a:rPr>
              <a:t>Indicate whether </a:t>
            </a:r>
            <a:pPr algn="l" indent="0" marL="0">
              <a:lnSpc>
                <a:spcPct val="133000"/>
              </a:lnSpc>
              <a:buNone/>
            </a:pPr>
            <a:r>
              <a:rPr lang="en-US" sz="1300" b="1" dirty="0">
                <a:solidFill>
                  <a:srgbClr val="2A2742"/>
                </a:solidFill>
                <a:latin typeface="Arimo Bold" pitchFamily="34" charset="0"/>
                <a:ea typeface="Arimo Bold" pitchFamily="34" charset="-122"/>
                <a:cs typeface="Arimo Bold" pitchFamily="34" charset="-120"/>
              </a:rPr>
              <a:t>at least one</a:t>
            </a:r>
            <a:pPr algn="l" indent="0" marL="0">
              <a:lnSpc>
                <a:spcPct val="133000"/>
              </a:lnSpc>
              <a:buNone/>
            </a:pPr>
            <a:r>
              <a:rPr lang="en-US" sz="1300" dirty="0">
                <a:solidFill>
                  <a:srgbClr val="2A2742"/>
                </a:solidFill>
                <a:latin typeface="Arimo" pitchFamily="34" charset="0"/>
                <a:ea typeface="Arimo" pitchFamily="34" charset="-122"/>
                <a:cs typeface="Arimo" pitchFamily="34" charset="-120"/>
              </a:rPr>
              <a:t> parking slot remains empty and available</a:t>
            </a:r>
            <a:endParaRPr lang="en-US" sz="1300" dirty="0"/>
          </a:p>
        </p:txBody>
      </p:sp>
      <p:sp>
        <p:nvSpPr>
          <p:cNvPr id="12" name="Text 10"/>
          <p:cNvSpPr/>
          <p:nvPr/>
        </p:nvSpPr>
        <p:spPr>
          <a:xfrm>
            <a:off x="723485" y="4378375"/>
            <a:ext cx="248041" cy="310059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lnSpc>
                <a:spcPct val="100000"/>
              </a:lnSpc>
              <a:buNone/>
            </a:pPr>
            <a:r>
              <a:rPr lang="en-US" sz="1950" dirty="0">
                <a:solidFill>
                  <a:srgbClr val="5E4CE6"/>
                </a:solidFill>
                <a:latin typeface="Outfit ExtraBold" pitchFamily="34" charset="0"/>
                <a:ea typeface="Outfit ExtraBold" pitchFamily="34" charset="-122"/>
                <a:cs typeface="Outfit ExtraBold" pitchFamily="34" charset="-120"/>
              </a:rPr>
              <a:t>3</a:t>
            </a:r>
            <a:endParaRPr lang="en-US" sz="1950" dirty="0"/>
          </a:p>
        </p:txBody>
      </p:sp>
      <p:sp>
        <p:nvSpPr>
          <p:cNvPr id="13" name="Text 11"/>
          <p:cNvSpPr/>
          <p:nvPr/>
        </p:nvSpPr>
        <p:spPr>
          <a:xfrm>
            <a:off x="1198830" y="4404221"/>
            <a:ext cx="4793634" cy="25846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600" dirty="0">
                <a:solidFill>
                  <a:srgbClr val="2A2742"/>
                </a:solidFill>
                <a:latin typeface="Outfit ExtraBold" pitchFamily="34" charset="0"/>
                <a:ea typeface="Outfit ExtraBold" pitchFamily="34" charset="-122"/>
                <a:cs typeface="Outfit ExtraBold" pitchFamily="34" charset="-120"/>
              </a:rPr>
              <a:t>Full Parking Detection</a:t>
            </a:r>
            <a:endParaRPr lang="en-US" sz="1600" dirty="0"/>
          </a:p>
        </p:txBody>
      </p:sp>
      <p:sp>
        <p:nvSpPr>
          <p:cNvPr id="14" name="Text 12"/>
          <p:cNvSpPr/>
          <p:nvPr/>
        </p:nvSpPr>
        <p:spPr>
          <a:xfrm>
            <a:off x="1198830" y="4761905"/>
            <a:ext cx="4793634" cy="529233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33000"/>
              </a:lnSpc>
              <a:buNone/>
            </a:pPr>
            <a:r>
              <a:rPr lang="en-US" sz="1300" dirty="0">
                <a:solidFill>
                  <a:srgbClr val="2A2742"/>
                </a:solidFill>
                <a:latin typeface="Arimo" pitchFamily="34" charset="0"/>
                <a:ea typeface="Arimo" pitchFamily="34" charset="-122"/>
                <a:cs typeface="Arimo" pitchFamily="34" charset="-120"/>
              </a:rPr>
              <a:t>Assert a FULL signal when </a:t>
            </a:r>
            <a:pPr algn="l" indent="0" marL="0">
              <a:lnSpc>
                <a:spcPct val="133000"/>
              </a:lnSpc>
              <a:buNone/>
            </a:pPr>
            <a:r>
              <a:rPr lang="en-US" sz="1300" b="1" dirty="0">
                <a:solidFill>
                  <a:srgbClr val="2A2742"/>
                </a:solidFill>
                <a:latin typeface="Arimo Bold" pitchFamily="34" charset="0"/>
                <a:ea typeface="Arimo Bold" pitchFamily="34" charset="-122"/>
                <a:cs typeface="Arimo Bold" pitchFamily="34" charset="-120"/>
              </a:rPr>
              <a:t>all four slots</a:t>
            </a:r>
            <a:pPr algn="l" indent="0" marL="0">
              <a:lnSpc>
                <a:spcPct val="133000"/>
              </a:lnSpc>
              <a:buNone/>
            </a:pPr>
            <a:r>
              <a:rPr lang="en-US" sz="1300" dirty="0">
                <a:solidFill>
                  <a:srgbClr val="2A2742"/>
                </a:solidFill>
                <a:latin typeface="Arimo" pitchFamily="34" charset="0"/>
                <a:ea typeface="Arimo" pitchFamily="34" charset="-122"/>
                <a:cs typeface="Arimo" pitchFamily="34" charset="-120"/>
              </a:rPr>
              <a:t> are simultaneously occupied</a:t>
            </a:r>
            <a:endParaRPr lang="en-US" sz="1300" dirty="0"/>
          </a:p>
        </p:txBody>
      </p:sp>
      <p:sp>
        <p:nvSpPr>
          <p:cNvPr id="15" name="Text 13"/>
          <p:cNvSpPr/>
          <p:nvPr/>
        </p:nvSpPr>
        <p:spPr>
          <a:xfrm>
            <a:off x="6261142" y="4378375"/>
            <a:ext cx="248041" cy="310059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lnSpc>
                <a:spcPct val="100000"/>
              </a:lnSpc>
              <a:buNone/>
            </a:pPr>
            <a:r>
              <a:rPr lang="en-US" sz="1950" dirty="0">
                <a:solidFill>
                  <a:srgbClr val="5E4CE6"/>
                </a:solidFill>
                <a:latin typeface="Outfit ExtraBold" pitchFamily="34" charset="0"/>
                <a:ea typeface="Outfit ExtraBold" pitchFamily="34" charset="-122"/>
                <a:cs typeface="Outfit ExtraBold" pitchFamily="34" charset="-120"/>
              </a:rPr>
              <a:t>4</a:t>
            </a:r>
            <a:endParaRPr lang="en-US" sz="1950" dirty="0"/>
          </a:p>
        </p:txBody>
      </p:sp>
      <p:sp>
        <p:nvSpPr>
          <p:cNvPr id="16" name="Text 14"/>
          <p:cNvSpPr/>
          <p:nvPr/>
        </p:nvSpPr>
        <p:spPr>
          <a:xfrm>
            <a:off x="6736487" y="4404221"/>
            <a:ext cx="4793733" cy="25846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600" dirty="0">
                <a:solidFill>
                  <a:srgbClr val="2A2742"/>
                </a:solidFill>
                <a:latin typeface="Outfit ExtraBold" pitchFamily="34" charset="0"/>
                <a:ea typeface="Outfit ExtraBold" pitchFamily="34" charset="-122"/>
                <a:cs typeface="Outfit ExtraBold" pitchFamily="34" charset="-120"/>
              </a:rPr>
              <a:t>Entry Control</a:t>
            </a:r>
            <a:endParaRPr lang="en-US" sz="1600" dirty="0"/>
          </a:p>
        </p:txBody>
      </p:sp>
      <p:sp>
        <p:nvSpPr>
          <p:cNvPr id="17" name="Text 15"/>
          <p:cNvSpPr/>
          <p:nvPr/>
        </p:nvSpPr>
        <p:spPr>
          <a:xfrm>
            <a:off x="6736487" y="4761905"/>
            <a:ext cx="4793733" cy="529233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33000"/>
              </a:lnSpc>
              <a:buNone/>
            </a:pPr>
            <a:r>
              <a:rPr lang="en-US" sz="1300" dirty="0">
                <a:solidFill>
                  <a:srgbClr val="2A2742"/>
                </a:solidFill>
                <a:latin typeface="Arimo" pitchFamily="34" charset="0"/>
                <a:ea typeface="Arimo" pitchFamily="34" charset="-122"/>
                <a:cs typeface="Arimo" pitchFamily="34" charset="-120"/>
              </a:rPr>
              <a:t>Permit vehicle entry </a:t>
            </a:r>
            <a:pPr algn="l" indent="0" marL="0">
              <a:lnSpc>
                <a:spcPct val="133000"/>
              </a:lnSpc>
              <a:buNone/>
            </a:pPr>
            <a:r>
              <a:rPr lang="en-US" sz="1300" b="1" dirty="0">
                <a:solidFill>
                  <a:srgbClr val="2A2742"/>
                </a:solidFill>
                <a:latin typeface="Arimo Bold" pitchFamily="34" charset="0"/>
                <a:ea typeface="Arimo Bold" pitchFamily="34" charset="-122"/>
                <a:cs typeface="Arimo Bold" pitchFamily="34" charset="-120"/>
              </a:rPr>
              <a:t>only</a:t>
            </a:r>
            <a:pPr algn="l" indent="0" marL="0">
              <a:lnSpc>
                <a:spcPct val="133000"/>
              </a:lnSpc>
              <a:buNone/>
            </a:pPr>
            <a:r>
              <a:rPr lang="en-US" sz="1300" dirty="0">
                <a:solidFill>
                  <a:srgbClr val="2A2742"/>
                </a:solidFill>
                <a:latin typeface="Arimo" pitchFamily="34" charset="0"/>
                <a:ea typeface="Arimo" pitchFamily="34" charset="-122"/>
                <a:cs typeface="Arimo" pitchFamily="34" charset="-120"/>
              </a:rPr>
              <a:t> when a request is present AND availability is confirmed</a:t>
            </a:r>
            <a:endParaRPr lang="en-US" sz="13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61475" y="454819"/>
            <a:ext cx="510567" cy="125710"/>
          </a:xfrm>
          <a:prstGeom prst="roundRect">
            <a:avLst>
              <a:gd name="adj" fmla="val 22103"/>
            </a:avLst>
          </a:prstGeom>
          <a:noFill/>
          <a:ln w="6350">
            <a:solidFill>
              <a:srgbClr val="5E4CE6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711083" y="479623"/>
            <a:ext cx="1020935" cy="7610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96000"/>
              </a:lnSpc>
              <a:buNone/>
            </a:pPr>
            <a:r>
              <a:rPr lang="en-US" sz="500" dirty="0">
                <a:solidFill>
                  <a:srgbClr val="5E4CE6"/>
                </a:solidFill>
                <a:latin typeface="Arimo" pitchFamily="34" charset="0"/>
                <a:ea typeface="Arimo" pitchFamily="34" charset="-122"/>
                <a:cs typeface="Arimo" pitchFamily="34" charset="-120"/>
              </a:rPr>
              <a:t>SLIDE 3 OF 7</a:t>
            </a:r>
            <a:endParaRPr lang="en-US" sz="500" dirty="0"/>
          </a:p>
        </p:txBody>
      </p:sp>
      <p:sp>
        <p:nvSpPr>
          <p:cNvPr id="4" name="Text 2"/>
          <p:cNvSpPr/>
          <p:nvPr/>
        </p:nvSpPr>
        <p:spPr>
          <a:xfrm>
            <a:off x="661475" y="596999"/>
            <a:ext cx="10868745" cy="25846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600" dirty="0">
                <a:solidFill>
                  <a:srgbClr val="231971"/>
                </a:solidFill>
                <a:latin typeface="Outfit ExtraBold" pitchFamily="34" charset="0"/>
                <a:ea typeface="Outfit ExtraBold" pitchFamily="34" charset="-122"/>
                <a:cs typeface="Outfit ExtraBold" pitchFamily="34" charset="-120"/>
              </a:rPr>
              <a:t>System Inputs, Outputs &amp; Logic</a:t>
            </a:r>
            <a:endParaRPr lang="en-US" sz="1600" dirty="0"/>
          </a:p>
        </p:txBody>
      </p:sp>
      <p:sp>
        <p:nvSpPr>
          <p:cNvPr id="5" name="Text 3"/>
          <p:cNvSpPr/>
          <p:nvPr/>
        </p:nvSpPr>
        <p:spPr>
          <a:xfrm>
            <a:off x="661475" y="871934"/>
            <a:ext cx="10868745" cy="12918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800" dirty="0">
                <a:solidFill>
                  <a:srgbClr val="231971"/>
                </a:solidFill>
                <a:latin typeface="Outfit ExtraBold" pitchFamily="34" charset="0"/>
                <a:ea typeface="Outfit ExtraBold" pitchFamily="34" charset="-122"/>
                <a:cs typeface="Outfit ExtraBold" pitchFamily="34" charset="-120"/>
              </a:rPr>
              <a:t>System Logic Flow</a:t>
            </a:r>
            <a:endParaRPr lang="en-US" sz="800" dirty="0"/>
          </a:p>
        </p:txBody>
      </p:sp>
      <p:pic>
        <p:nvPicPr>
          <p:cNvPr id="6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2430699" y="1063129"/>
            <a:ext cx="7330296" cy="5509915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5424449" y="3550438"/>
            <a:ext cx="1336850" cy="917069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lnSpc>
                <a:spcPct val="104000"/>
              </a:lnSpc>
              <a:buNone/>
            </a:pPr>
            <a:r>
              <a:rPr lang="en-US" sz="1900" dirty="0">
                <a:solidFill>
                  <a:srgbClr val="FFFFFF"/>
                </a:solidFill>
                <a:latin typeface="Outfit ExtraBold" pitchFamily="34" charset="0"/>
                <a:ea typeface="Outfit ExtraBold" pitchFamily="34" charset="-122"/>
                <a:cs typeface="Outfit ExtraBold" pitchFamily="34" charset="-120"/>
              </a:rPr>
              <a:t>Entry Decision Logic</a:t>
            </a:r>
            <a:endParaRPr lang="en-US" sz="1900" dirty="0"/>
          </a:p>
        </p:txBody>
      </p:sp>
      <p:sp>
        <p:nvSpPr>
          <p:cNvPr id="8" name="Text 5"/>
          <p:cNvSpPr/>
          <p:nvPr/>
        </p:nvSpPr>
        <p:spPr>
          <a:xfrm>
            <a:off x="7424289" y="5116758"/>
            <a:ext cx="1988802" cy="611379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lnSpc>
                <a:spcPct val="104000"/>
              </a:lnSpc>
              <a:buNone/>
            </a:pPr>
            <a:r>
              <a:rPr lang="en-US" sz="1900" dirty="0">
                <a:solidFill>
                  <a:srgbClr val="2A2742"/>
                </a:solidFill>
                <a:latin typeface="Outfit ExtraBold" pitchFamily="34" charset="0"/>
                <a:ea typeface="Outfit ExtraBold" pitchFamily="34" charset="-122"/>
                <a:cs typeface="Outfit ExtraBold" pitchFamily="34" charset="-120"/>
              </a:rPr>
              <a:t>Full Detection Logic</a:t>
            </a:r>
            <a:endParaRPr lang="en-US" sz="1900" dirty="0"/>
          </a:p>
        </p:txBody>
      </p:sp>
      <p:sp>
        <p:nvSpPr>
          <p:cNvPr id="9" name="Text 6"/>
          <p:cNvSpPr/>
          <p:nvPr/>
        </p:nvSpPr>
        <p:spPr>
          <a:xfrm>
            <a:off x="7424289" y="5815089"/>
            <a:ext cx="1988802" cy="18341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indent="0" marL="0">
              <a:lnSpc>
                <a:spcPct val="78000"/>
              </a:lnSpc>
              <a:buNone/>
            </a:pPr>
            <a:r>
              <a:rPr lang="en-US" sz="1500" dirty="0">
                <a:solidFill>
                  <a:srgbClr val="2A2742"/>
                </a:solidFill>
                <a:latin typeface="Arimo" pitchFamily="34" charset="0"/>
                <a:ea typeface="Arimo" pitchFamily="34" charset="-122"/>
                <a:cs typeface="Arimo" pitchFamily="34" charset="-120"/>
              </a:rPr>
              <a:t>S1–S4 all occupied</a:t>
            </a:r>
            <a:endParaRPr lang="en-US" sz="1500" dirty="0"/>
          </a:p>
        </p:txBody>
      </p:sp>
      <p:sp>
        <p:nvSpPr>
          <p:cNvPr id="10" name="Text 7"/>
          <p:cNvSpPr/>
          <p:nvPr/>
        </p:nvSpPr>
        <p:spPr>
          <a:xfrm>
            <a:off x="2761618" y="5025051"/>
            <a:ext cx="1988802" cy="611379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lnSpc>
                <a:spcPct val="104000"/>
              </a:lnSpc>
              <a:buNone/>
            </a:pPr>
            <a:r>
              <a:rPr lang="en-US" sz="1900" dirty="0">
                <a:solidFill>
                  <a:srgbClr val="2A2742"/>
                </a:solidFill>
                <a:latin typeface="Outfit ExtraBold" pitchFamily="34" charset="0"/>
                <a:ea typeface="Outfit ExtraBold" pitchFamily="34" charset="-122"/>
                <a:cs typeface="Outfit ExtraBold" pitchFamily="34" charset="-120"/>
              </a:rPr>
              <a:t>Entry Control Logic</a:t>
            </a:r>
            <a:endParaRPr lang="en-US" sz="1900" dirty="0"/>
          </a:p>
        </p:txBody>
      </p:sp>
      <p:sp>
        <p:nvSpPr>
          <p:cNvPr id="11" name="Text 8"/>
          <p:cNvSpPr/>
          <p:nvPr/>
        </p:nvSpPr>
        <p:spPr>
          <a:xfrm>
            <a:off x="2761618" y="5723382"/>
            <a:ext cx="1988802" cy="36682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lnSpc>
                <a:spcPct val="78000"/>
              </a:lnSpc>
              <a:buNone/>
            </a:pPr>
            <a:r>
              <a:rPr lang="en-US" sz="1500" dirty="0">
                <a:solidFill>
                  <a:srgbClr val="2A2742"/>
                </a:solidFill>
                <a:latin typeface="Arimo" pitchFamily="34" charset="0"/>
                <a:ea typeface="Arimo" pitchFamily="34" charset="-122"/>
                <a:cs typeface="Arimo" pitchFamily="34" charset="-120"/>
              </a:rPr>
              <a:t>AVAILABLE and E produce ENTRY</a:t>
            </a:r>
            <a:endParaRPr lang="en-US" sz="1500" dirty="0"/>
          </a:p>
        </p:txBody>
      </p:sp>
      <p:sp>
        <p:nvSpPr>
          <p:cNvPr id="12" name="Text 9"/>
          <p:cNvSpPr/>
          <p:nvPr/>
        </p:nvSpPr>
        <p:spPr>
          <a:xfrm>
            <a:off x="5065782" y="1563964"/>
            <a:ext cx="2043145" cy="30569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indent="0" marL="0">
              <a:lnSpc>
                <a:spcPct val="104000"/>
              </a:lnSpc>
              <a:buNone/>
            </a:pPr>
            <a:r>
              <a:rPr lang="en-US" sz="1900" dirty="0">
                <a:solidFill>
                  <a:srgbClr val="2A2742"/>
                </a:solidFill>
                <a:latin typeface="Outfit ExtraBold" pitchFamily="34" charset="0"/>
                <a:ea typeface="Outfit ExtraBold" pitchFamily="34" charset="-122"/>
                <a:cs typeface="Outfit ExtraBold" pitchFamily="34" charset="-120"/>
              </a:rPr>
              <a:t>Availability Logic</a:t>
            </a:r>
            <a:endParaRPr lang="en-US" sz="1900" dirty="0"/>
          </a:p>
        </p:txBody>
      </p:sp>
      <p:sp>
        <p:nvSpPr>
          <p:cNvPr id="13" name="Text 10"/>
          <p:cNvSpPr/>
          <p:nvPr/>
        </p:nvSpPr>
        <p:spPr>
          <a:xfrm>
            <a:off x="5065782" y="1956606"/>
            <a:ext cx="2043145" cy="36682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lnSpc>
                <a:spcPct val="78000"/>
              </a:lnSpc>
              <a:buNone/>
            </a:pPr>
            <a:r>
              <a:rPr lang="en-US" sz="1500" dirty="0">
                <a:solidFill>
                  <a:srgbClr val="2A2742"/>
                </a:solidFill>
                <a:latin typeface="Arimo" pitchFamily="34" charset="0"/>
                <a:ea typeface="Arimo" pitchFamily="34" charset="-122"/>
                <a:cs typeface="Arimo" pitchFamily="34" charset="-120"/>
              </a:rPr>
              <a:t>S1–S4 indicate at least one empty</a:t>
            </a:r>
            <a:endParaRPr lang="en-US" sz="15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61475" y="576163"/>
            <a:ext cx="1021729" cy="251420"/>
          </a:xfrm>
          <a:prstGeom prst="roundRect">
            <a:avLst>
              <a:gd name="adj" fmla="val 22103"/>
            </a:avLst>
          </a:prstGeom>
          <a:noFill/>
          <a:ln w="6350">
            <a:solidFill>
              <a:srgbClr val="5E4CE6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760691" y="625773"/>
            <a:ext cx="1432881" cy="15220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96000"/>
              </a:lnSpc>
              <a:buNone/>
            </a:pPr>
            <a:r>
              <a:rPr lang="en-US" sz="1000" dirty="0">
                <a:solidFill>
                  <a:srgbClr val="5E4CE6"/>
                </a:solidFill>
                <a:latin typeface="Arimo" pitchFamily="34" charset="0"/>
                <a:ea typeface="Arimo" pitchFamily="34" charset="-122"/>
                <a:cs typeface="Arimo" pitchFamily="34" charset="-120"/>
              </a:rPr>
              <a:t>SLIDE 4 OF 7</a:t>
            </a:r>
            <a:endParaRPr lang="en-US" sz="1000" dirty="0"/>
          </a:p>
        </p:txBody>
      </p:sp>
      <p:sp>
        <p:nvSpPr>
          <p:cNvPr id="4" name="Text 2"/>
          <p:cNvSpPr/>
          <p:nvPr/>
        </p:nvSpPr>
        <p:spPr>
          <a:xfrm>
            <a:off x="661475" y="893663"/>
            <a:ext cx="10868745" cy="51673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3250" dirty="0">
                <a:solidFill>
                  <a:srgbClr val="231971"/>
                </a:solidFill>
                <a:latin typeface="Outfit ExtraBold" pitchFamily="34" charset="0"/>
                <a:ea typeface="Outfit ExtraBold" pitchFamily="34" charset="-122"/>
                <a:cs typeface="Outfit ExtraBold" pitchFamily="34" charset="-120"/>
              </a:rPr>
              <a:t>Boolean Logic Design</a:t>
            </a:r>
            <a:endParaRPr lang="en-US" sz="3250" dirty="0"/>
          </a:p>
        </p:txBody>
      </p:sp>
      <p:sp>
        <p:nvSpPr>
          <p:cNvPr id="5" name="Shape 3"/>
          <p:cNvSpPr/>
          <p:nvPr/>
        </p:nvSpPr>
        <p:spPr>
          <a:xfrm>
            <a:off x="661475" y="1658441"/>
            <a:ext cx="3512653" cy="4172744"/>
          </a:xfrm>
          <a:prstGeom prst="roundRect">
            <a:avLst>
              <a:gd name="adj" fmla="val 1978"/>
            </a:avLst>
          </a:prstGeom>
          <a:solidFill>
            <a:srgbClr val="E9E6FA"/>
          </a:solidFill>
          <a:ln w="6350">
            <a:solidFill>
              <a:srgbClr val="BDB8DF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833119" y="1830090"/>
            <a:ext cx="3169364" cy="25846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600" dirty="0">
                <a:solidFill>
                  <a:srgbClr val="2A2742"/>
                </a:solidFill>
                <a:latin typeface="Outfit ExtraBold" pitchFamily="34" charset="0"/>
                <a:ea typeface="Outfit ExtraBold" pitchFamily="34" charset="-122"/>
                <a:cs typeface="Outfit ExtraBold" pitchFamily="34" charset="-120"/>
              </a:rPr>
              <a:t>Parking Availability</a:t>
            </a:r>
            <a:endParaRPr lang="en-US" sz="1600" dirty="0"/>
          </a:p>
        </p:txBody>
      </p:sp>
      <p:sp>
        <p:nvSpPr>
          <p:cNvPr id="7" name="Text 5"/>
          <p:cNvSpPr/>
          <p:nvPr/>
        </p:nvSpPr>
        <p:spPr>
          <a:xfrm>
            <a:off x="833119" y="2187773"/>
            <a:ext cx="3169364" cy="992287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33000"/>
              </a:lnSpc>
              <a:spcAft>
                <a:spcPts val="750"/>
              </a:spcAft>
              <a:buNone/>
            </a:pPr>
            <a:r>
              <a:rPr lang="en-US" sz="1300" b="1" dirty="0">
                <a:solidFill>
                  <a:srgbClr val="2A2742"/>
                </a:solidFill>
                <a:latin typeface="Arimo Bold" pitchFamily="34" charset="0"/>
                <a:ea typeface="Arimo Bold" pitchFamily="34" charset="-122"/>
                <a:cs typeface="Arimo Bold" pitchFamily="34" charset="-120"/>
              </a:rPr>
              <a:t>AVAILABLE = ¬S1 + ¬S2 + ¬S3 + ¬S4</a:t>
            </a:r>
            <a:endParaRPr lang="en-US" sz="1300" dirty="0"/>
          </a:p>
          <a:p>
            <a:pPr algn="l" indent="0" marL="0">
              <a:lnSpc>
                <a:spcPct val="133000"/>
              </a:lnSpc>
              <a:spcAft>
                <a:spcPts val="750"/>
              </a:spcAft>
              <a:buNone/>
            </a:pPr>
            <a:r>
              <a:rPr lang="en-US" sz="1300" b="1" dirty="0">
                <a:solidFill>
                  <a:srgbClr val="2A2742"/>
                </a:solidFill>
                <a:latin typeface="Arimo Bold" pitchFamily="34" charset="0"/>
                <a:ea typeface="Arimo Bold" pitchFamily="34" charset="-122"/>
                <a:cs typeface="Arimo Bold" pitchFamily="34" charset="-120"/>
              </a:rPr>
              <a:t>Empty = 0 |  Full = 1 | = Input</a:t>
            </a:r>
            <a:endParaRPr lang="en-US" sz="1300" dirty="0"/>
          </a:p>
          <a:p>
            <a:pPr algn="l" indent="0" marL="0">
              <a:lnSpc>
                <a:spcPct val="133000"/>
              </a:lnSpc>
              <a:buNone/>
            </a:pPr>
            <a:r>
              <a:rPr lang="en-US" sz="1300" b="1" dirty="0">
                <a:solidFill>
                  <a:srgbClr val="2A2742"/>
                </a:solidFill>
                <a:latin typeface="Arimo Bold" pitchFamily="34" charset="0"/>
                <a:ea typeface="Arimo Bold" pitchFamily="34" charset="-122"/>
                <a:cs typeface="Arimo Bold" pitchFamily="34" charset="-120"/>
              </a:rPr>
              <a:t>Avaliability = Output</a:t>
            </a:r>
            <a:endParaRPr lang="en-US" sz="1300" dirty="0"/>
          </a:p>
        </p:txBody>
      </p:sp>
      <p:pic>
        <p:nvPicPr>
          <p:cNvPr id="8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33119" y="3366095"/>
            <a:ext cx="3160733" cy="1575891"/>
          </a:xfrm>
          <a:prstGeom prst="rect">
            <a:avLst/>
          </a:prstGeom>
        </p:spPr>
      </p:pic>
      <p:sp>
        <p:nvSpPr>
          <p:cNvPr id="9" name="Shape 6"/>
          <p:cNvSpPr/>
          <p:nvPr/>
        </p:nvSpPr>
        <p:spPr>
          <a:xfrm>
            <a:off x="4339422" y="1658441"/>
            <a:ext cx="3512752" cy="4172744"/>
          </a:xfrm>
          <a:prstGeom prst="roundRect">
            <a:avLst>
              <a:gd name="adj" fmla="val 1977"/>
            </a:avLst>
          </a:prstGeom>
          <a:solidFill>
            <a:srgbClr val="E9E6FA"/>
          </a:solidFill>
          <a:ln w="6350">
            <a:solidFill>
              <a:srgbClr val="BDB8DF"/>
            </a:solidFill>
            <a:prstDash val="solid"/>
          </a:ln>
        </p:spPr>
      </p:sp>
      <p:sp>
        <p:nvSpPr>
          <p:cNvPr id="10" name="Text 7"/>
          <p:cNvSpPr/>
          <p:nvPr/>
        </p:nvSpPr>
        <p:spPr>
          <a:xfrm>
            <a:off x="4511066" y="1830090"/>
            <a:ext cx="3169464" cy="25846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600" dirty="0">
                <a:solidFill>
                  <a:srgbClr val="2A2742"/>
                </a:solidFill>
                <a:latin typeface="Outfit ExtraBold" pitchFamily="34" charset="0"/>
                <a:ea typeface="Outfit ExtraBold" pitchFamily="34" charset="-122"/>
                <a:cs typeface="Outfit ExtraBold" pitchFamily="34" charset="-120"/>
              </a:rPr>
              <a:t>Full Parking Detection</a:t>
            </a:r>
            <a:endParaRPr lang="en-US" sz="1600" dirty="0"/>
          </a:p>
        </p:txBody>
      </p:sp>
      <p:sp>
        <p:nvSpPr>
          <p:cNvPr id="11" name="Text 8"/>
          <p:cNvSpPr/>
          <p:nvPr/>
        </p:nvSpPr>
        <p:spPr>
          <a:xfrm>
            <a:off x="4511066" y="2187773"/>
            <a:ext cx="3169464" cy="62845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33000"/>
              </a:lnSpc>
              <a:spcAft>
                <a:spcPts val="750"/>
              </a:spcAft>
              <a:buNone/>
            </a:pPr>
            <a:r>
              <a:rPr lang="en-US" sz="1300" b="1" dirty="0">
                <a:solidFill>
                  <a:srgbClr val="2A2742"/>
                </a:solidFill>
                <a:latin typeface="Arimo Bold" pitchFamily="34" charset="0"/>
                <a:ea typeface="Arimo Bold" pitchFamily="34" charset="-122"/>
                <a:cs typeface="Arimo Bold" pitchFamily="34" charset="-120"/>
              </a:rPr>
              <a:t>FULL = S1 · S2 · S3 · S4</a:t>
            </a:r>
            <a:endParaRPr lang="en-US" sz="1300" dirty="0"/>
          </a:p>
          <a:p>
            <a:pPr algn="l" indent="0" marL="0">
              <a:lnSpc>
                <a:spcPct val="133000"/>
              </a:lnSpc>
              <a:buNone/>
            </a:pPr>
            <a:r>
              <a:rPr lang="en-US" sz="1300" b="1" dirty="0">
                <a:solidFill>
                  <a:srgbClr val="2A2742"/>
                </a:solidFill>
                <a:latin typeface="Arimo Bold" pitchFamily="34" charset="0"/>
                <a:ea typeface="Arimo Bold" pitchFamily="34" charset="-122"/>
                <a:cs typeface="Arimo Bold" pitchFamily="34" charset="-120"/>
              </a:rPr>
              <a:t>Full = 1 | Empty = 0  </a:t>
            </a:r>
            <a:endParaRPr lang="en-US" sz="1300" dirty="0"/>
          </a:p>
        </p:txBody>
      </p:sp>
      <p:pic>
        <p:nvPicPr>
          <p:cNvPr id="12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11066" y="3002260"/>
            <a:ext cx="3169464" cy="2206625"/>
          </a:xfrm>
          <a:prstGeom prst="rect">
            <a:avLst/>
          </a:prstGeom>
        </p:spPr>
      </p:pic>
      <p:sp>
        <p:nvSpPr>
          <p:cNvPr id="13" name="Shape 9"/>
          <p:cNvSpPr/>
          <p:nvPr/>
        </p:nvSpPr>
        <p:spPr>
          <a:xfrm>
            <a:off x="8017468" y="1658441"/>
            <a:ext cx="3512653" cy="4172744"/>
          </a:xfrm>
          <a:prstGeom prst="roundRect">
            <a:avLst>
              <a:gd name="adj" fmla="val 1978"/>
            </a:avLst>
          </a:prstGeom>
          <a:solidFill>
            <a:srgbClr val="E9E6FA"/>
          </a:solidFill>
          <a:ln w="6350">
            <a:solidFill>
              <a:srgbClr val="BDB8DF"/>
            </a:solidFill>
            <a:prstDash val="solid"/>
          </a:ln>
        </p:spPr>
      </p:sp>
      <p:sp>
        <p:nvSpPr>
          <p:cNvPr id="14" name="Text 10"/>
          <p:cNvSpPr/>
          <p:nvPr/>
        </p:nvSpPr>
        <p:spPr>
          <a:xfrm>
            <a:off x="8189112" y="1830090"/>
            <a:ext cx="3169364" cy="25846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600" dirty="0">
                <a:solidFill>
                  <a:srgbClr val="2A2742"/>
                </a:solidFill>
                <a:latin typeface="Outfit ExtraBold" pitchFamily="34" charset="0"/>
                <a:ea typeface="Outfit ExtraBold" pitchFamily="34" charset="-122"/>
                <a:cs typeface="Outfit ExtraBold" pitchFamily="34" charset="-120"/>
              </a:rPr>
              <a:t>Entry Control</a:t>
            </a:r>
            <a:endParaRPr lang="en-US" sz="1600" dirty="0"/>
          </a:p>
        </p:txBody>
      </p:sp>
      <p:sp>
        <p:nvSpPr>
          <p:cNvPr id="15" name="Text 11"/>
          <p:cNvSpPr/>
          <p:nvPr/>
        </p:nvSpPr>
        <p:spPr>
          <a:xfrm>
            <a:off x="8189112" y="2187773"/>
            <a:ext cx="3169364" cy="992287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33000"/>
              </a:lnSpc>
              <a:spcAft>
                <a:spcPts val="750"/>
              </a:spcAft>
              <a:buNone/>
            </a:pPr>
            <a:r>
              <a:rPr lang="en-US" sz="1300" b="1" dirty="0">
                <a:solidFill>
                  <a:srgbClr val="2A2742"/>
                </a:solidFill>
                <a:latin typeface="Arimo Bold" pitchFamily="34" charset="0"/>
                <a:ea typeface="Arimo Bold" pitchFamily="34" charset="-122"/>
                <a:cs typeface="Arimo Bold" pitchFamily="34" charset="-120"/>
              </a:rPr>
              <a:t>ENTRY = R · AVAILABLE</a:t>
            </a:r>
            <a:endParaRPr lang="en-US" sz="1300" dirty="0"/>
          </a:p>
          <a:p>
            <a:pPr algn="l" indent="0" marL="0">
              <a:lnSpc>
                <a:spcPct val="133000"/>
              </a:lnSpc>
              <a:spcAft>
                <a:spcPts val="750"/>
              </a:spcAft>
              <a:buNone/>
            </a:pPr>
            <a:r>
              <a:rPr lang="en-US" sz="1300" b="1" dirty="0">
                <a:solidFill>
                  <a:srgbClr val="2A2742"/>
                </a:solidFill>
                <a:latin typeface="Arimo Bold" pitchFamily="34" charset="0"/>
                <a:ea typeface="Arimo Bold" pitchFamily="34" charset="-122"/>
                <a:cs typeface="Arimo Bold" pitchFamily="34" charset="-120"/>
              </a:rPr>
              <a:t>Avaliable  |  Request  = Input</a:t>
            </a:r>
            <a:endParaRPr lang="en-US" sz="1300" dirty="0"/>
          </a:p>
          <a:p>
            <a:pPr algn="l" indent="0" marL="0">
              <a:lnSpc>
                <a:spcPct val="133000"/>
              </a:lnSpc>
              <a:buNone/>
            </a:pPr>
            <a:r>
              <a:rPr lang="en-US" sz="1300" b="1" dirty="0">
                <a:solidFill>
                  <a:srgbClr val="2A2742"/>
                </a:solidFill>
                <a:latin typeface="Arimo Bold" pitchFamily="34" charset="0"/>
                <a:ea typeface="Arimo Bold" pitchFamily="34" charset="-122"/>
                <a:cs typeface="Arimo Bold" pitchFamily="34" charset="-120"/>
              </a:rPr>
              <a:t>Entry = Output</a:t>
            </a:r>
            <a:endParaRPr lang="en-US" sz="1300" dirty="0"/>
          </a:p>
        </p:txBody>
      </p:sp>
      <p:pic>
        <p:nvPicPr>
          <p:cNvPr id="16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189112" y="3366095"/>
            <a:ext cx="3160733" cy="1481534"/>
          </a:xfrm>
          <a:prstGeom prst="rect">
            <a:avLst/>
          </a:prstGeom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61475" y="1040408"/>
            <a:ext cx="1021729" cy="251420"/>
          </a:xfrm>
          <a:prstGeom prst="roundRect">
            <a:avLst>
              <a:gd name="adj" fmla="val 22103"/>
            </a:avLst>
          </a:prstGeom>
          <a:noFill/>
          <a:ln w="6350">
            <a:solidFill>
              <a:srgbClr val="5E4CE6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760691" y="1090017"/>
            <a:ext cx="1432881" cy="15220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96000"/>
              </a:lnSpc>
              <a:buNone/>
            </a:pPr>
            <a:r>
              <a:rPr lang="en-US" sz="1000" dirty="0">
                <a:solidFill>
                  <a:srgbClr val="5E4CE6"/>
                </a:solidFill>
                <a:latin typeface="Arimo" pitchFamily="34" charset="0"/>
                <a:ea typeface="Arimo" pitchFamily="34" charset="-122"/>
                <a:cs typeface="Arimo" pitchFamily="34" charset="-120"/>
              </a:rPr>
              <a:t>SLIDE 5 OF 7</a:t>
            </a:r>
            <a:endParaRPr lang="en-US" sz="1000" dirty="0"/>
          </a:p>
        </p:txBody>
      </p:sp>
      <p:sp>
        <p:nvSpPr>
          <p:cNvPr id="4" name="Text 2"/>
          <p:cNvSpPr/>
          <p:nvPr/>
        </p:nvSpPr>
        <p:spPr>
          <a:xfrm>
            <a:off x="661475" y="1357908"/>
            <a:ext cx="10868745" cy="51673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3250" dirty="0">
                <a:solidFill>
                  <a:srgbClr val="231971"/>
                </a:solidFill>
                <a:latin typeface="Outfit ExtraBold" pitchFamily="34" charset="0"/>
                <a:ea typeface="Outfit ExtraBold" pitchFamily="34" charset="-122"/>
                <a:cs typeface="Outfit ExtraBold" pitchFamily="34" charset="-120"/>
              </a:rPr>
              <a:t>Truth Table &amp; System Verification</a:t>
            </a:r>
            <a:endParaRPr lang="en-US" sz="3250" dirty="0"/>
          </a:p>
        </p:txBody>
      </p:sp>
      <p:sp>
        <p:nvSpPr>
          <p:cNvPr id="5" name="Text 3"/>
          <p:cNvSpPr/>
          <p:nvPr/>
        </p:nvSpPr>
        <p:spPr>
          <a:xfrm>
            <a:off x="661475" y="2287984"/>
            <a:ext cx="5232666" cy="25846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600" dirty="0">
                <a:solidFill>
                  <a:srgbClr val="231971"/>
                </a:solidFill>
                <a:latin typeface="Outfit ExtraBold" pitchFamily="34" charset="0"/>
                <a:ea typeface="Outfit ExtraBold" pitchFamily="34" charset="-122"/>
                <a:cs typeface="Outfit ExtraBold" pitchFamily="34" charset="-120"/>
              </a:rPr>
              <a:t>Parking Slot Status — Representative Cases</a:t>
            </a:r>
            <a:endParaRPr lang="en-US" sz="1600" dirty="0"/>
          </a:p>
        </p:txBody>
      </p:sp>
      <p:graphicFrame>
        <p:nvGraphicFramePr>
          <p:cNvPr id="6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661475" y="2732484"/>
          <a:ext cx="9143771" cy="914400"/>
        </p:xfrm>
        <a:graphic>
          <a:graphicData uri="http://schemas.openxmlformats.org/drawingml/2006/table">
            <a:tbl>
              <a:tblPr/>
              <a:tblGrid>
                <a:gridCol w="660362"/>
                <a:gridCol w="659839"/>
                <a:gridCol w="660362"/>
                <a:gridCol w="660362"/>
                <a:gridCol w="1296131"/>
                <a:gridCol w="1295608"/>
              </a:tblGrid>
              <a:tr h="478917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  <a:latin typeface="Arimo" pitchFamily="34" charset="0"/>
                          <a:ea typeface="Arimo" pitchFamily="34" charset="-122"/>
                          <a:cs typeface="Arimo" pitchFamily="34" charset="-120"/>
                        </a:rPr>
                        <a:t>S1</a:t>
                      </a:r>
                      <a:endParaRPr lang="en-US" sz="1300" dirty="0">
                        <a:latin typeface="Arimo" charset="0"/>
                        <a:ea typeface="Arimo" charset="0"/>
                        <a:cs typeface="Arimo" charset="0"/>
                      </a:endParaRPr>
                    </a:p>
                  </a:txBody>
                  <a:tcPr marL="165391" marR="165391" marT="6350" marB="635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23197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  <a:latin typeface="Arimo" pitchFamily="34" charset="0"/>
                          <a:ea typeface="Arimo" pitchFamily="34" charset="-122"/>
                          <a:cs typeface="Arimo" pitchFamily="34" charset="-120"/>
                        </a:rPr>
                        <a:t>S2</a:t>
                      </a:r>
                      <a:endParaRPr lang="en-US" sz="1300" dirty="0">
                        <a:latin typeface="Arimo" charset="0"/>
                        <a:ea typeface="Arimo" charset="0"/>
                        <a:cs typeface="Arimo" charset="0"/>
                      </a:endParaRPr>
                    </a:p>
                  </a:txBody>
                  <a:tcPr marL="165391" marR="165391" marT="6350" marB="635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23197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  <a:latin typeface="Arimo" pitchFamily="34" charset="0"/>
                          <a:ea typeface="Arimo" pitchFamily="34" charset="-122"/>
                          <a:cs typeface="Arimo" pitchFamily="34" charset="-120"/>
                        </a:rPr>
                        <a:t>S3</a:t>
                      </a:r>
                      <a:endParaRPr lang="en-US" sz="1300" dirty="0">
                        <a:latin typeface="Arimo" charset="0"/>
                        <a:ea typeface="Arimo" charset="0"/>
                        <a:cs typeface="Arimo" charset="0"/>
                      </a:endParaRPr>
                    </a:p>
                  </a:txBody>
                  <a:tcPr marL="165391" marR="165391" marT="6350" marB="635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23197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  <a:latin typeface="Arimo" pitchFamily="34" charset="0"/>
                          <a:ea typeface="Arimo" pitchFamily="34" charset="-122"/>
                          <a:cs typeface="Arimo" pitchFamily="34" charset="-120"/>
                        </a:rPr>
                        <a:t>S4</a:t>
                      </a:r>
                      <a:endParaRPr lang="en-US" sz="1300" dirty="0">
                        <a:latin typeface="Arimo" charset="0"/>
                        <a:ea typeface="Arimo" charset="0"/>
                        <a:cs typeface="Arimo" charset="0"/>
                      </a:endParaRPr>
                    </a:p>
                  </a:txBody>
                  <a:tcPr marL="165391" marR="165391" marT="6350" marB="635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23197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  <a:latin typeface="Arimo" pitchFamily="34" charset="0"/>
                          <a:ea typeface="Arimo" pitchFamily="34" charset="-122"/>
                          <a:cs typeface="Arimo" pitchFamily="34" charset="-120"/>
                        </a:rPr>
                        <a:t>AVAILABLE</a:t>
                      </a:r>
                      <a:endParaRPr lang="en-US" sz="1300" dirty="0">
                        <a:latin typeface="Arimo" charset="0"/>
                        <a:ea typeface="Arimo" charset="0"/>
                        <a:cs typeface="Arimo" charset="0"/>
                      </a:endParaRPr>
                    </a:p>
                  </a:txBody>
                  <a:tcPr marL="165391" marR="165391" marT="6350" marB="635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23197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  <a:latin typeface="Arimo" pitchFamily="34" charset="0"/>
                          <a:ea typeface="Arimo" pitchFamily="34" charset="-122"/>
                          <a:cs typeface="Arimo" pitchFamily="34" charset="-120"/>
                        </a:rPr>
                        <a:t>FULL</a:t>
                      </a:r>
                      <a:endParaRPr lang="en-US" sz="1300" dirty="0">
                        <a:latin typeface="Arimo" charset="0"/>
                        <a:ea typeface="Arimo" charset="0"/>
                        <a:cs typeface="Arimo" charset="0"/>
                      </a:endParaRPr>
                    </a:p>
                  </a:txBody>
                  <a:tcPr marL="165391" marR="165391" marT="6350" marB="635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231971"/>
                    </a:solidFill>
                  </a:tcPr>
                </a:tc>
              </a:tr>
              <a:tr h="48209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2A2742"/>
                          </a:solidFill>
                          <a:latin typeface="Arimo" pitchFamily="34" charset="0"/>
                          <a:ea typeface="Arimo" pitchFamily="34" charset="-122"/>
                          <a:cs typeface="Arimo" pitchFamily="34" charset="-120"/>
                        </a:rPr>
                        <a:t>0</a:t>
                      </a:r>
                      <a:endParaRPr lang="en-US" sz="1300" dirty="0">
                        <a:latin typeface="Arimo" charset="0"/>
                        <a:ea typeface="Arimo" charset="0"/>
                        <a:cs typeface="Arimo" charset="0"/>
                      </a:endParaRPr>
                    </a:p>
                  </a:txBody>
                  <a:tcPr marL="165391" marR="165391" marT="6350" marB="635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2A2742"/>
                          </a:solidFill>
                          <a:latin typeface="Arimo" pitchFamily="34" charset="0"/>
                          <a:ea typeface="Arimo" pitchFamily="34" charset="-122"/>
                          <a:cs typeface="Arimo" pitchFamily="34" charset="-120"/>
                        </a:rPr>
                        <a:t>0</a:t>
                      </a:r>
                      <a:endParaRPr lang="en-US" sz="1300" dirty="0">
                        <a:latin typeface="Arimo" charset="0"/>
                        <a:ea typeface="Arimo" charset="0"/>
                        <a:cs typeface="Arimo" charset="0"/>
                      </a:endParaRPr>
                    </a:p>
                  </a:txBody>
                  <a:tcPr marL="165391" marR="165391" marT="6350" marB="635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2A2742"/>
                          </a:solidFill>
                          <a:latin typeface="Arimo" pitchFamily="34" charset="0"/>
                          <a:ea typeface="Arimo" pitchFamily="34" charset="-122"/>
                          <a:cs typeface="Arimo" pitchFamily="34" charset="-120"/>
                        </a:rPr>
                        <a:t>0</a:t>
                      </a:r>
                      <a:endParaRPr lang="en-US" sz="1300" dirty="0">
                        <a:latin typeface="Arimo" charset="0"/>
                        <a:ea typeface="Arimo" charset="0"/>
                        <a:cs typeface="Arimo" charset="0"/>
                      </a:endParaRPr>
                    </a:p>
                  </a:txBody>
                  <a:tcPr marL="165391" marR="165391" marT="6350" marB="635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2A2742"/>
                          </a:solidFill>
                          <a:latin typeface="Arimo" pitchFamily="34" charset="0"/>
                          <a:ea typeface="Arimo" pitchFamily="34" charset="-122"/>
                          <a:cs typeface="Arimo" pitchFamily="34" charset="-120"/>
                        </a:rPr>
                        <a:t>0</a:t>
                      </a:r>
                      <a:endParaRPr lang="en-US" sz="1300" dirty="0">
                        <a:latin typeface="Arimo" charset="0"/>
                        <a:ea typeface="Arimo" charset="0"/>
                        <a:cs typeface="Arimo" charset="0"/>
                      </a:endParaRPr>
                    </a:p>
                  </a:txBody>
                  <a:tcPr marL="165391" marR="165391" marT="6350" marB="635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rgbClr val="231971"/>
                          </a:solidFill>
                          <a:latin typeface="Arimo" pitchFamily="34" charset="0"/>
                          <a:ea typeface="Arimo" pitchFamily="34" charset="-122"/>
                          <a:cs typeface="Arimo" pitchFamily="34" charset="-120"/>
                        </a:rPr>
                        <a:t>1</a:t>
                      </a:r>
                      <a:endParaRPr lang="en-US" sz="1300" dirty="0">
                        <a:latin typeface="Arimo" charset="0"/>
                        <a:ea typeface="Arimo" charset="0"/>
                        <a:cs typeface="Arimo" charset="0"/>
                      </a:endParaRPr>
                    </a:p>
                  </a:txBody>
                  <a:tcPr marL="165391" marR="165391" marT="6350" marB="635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2A2742"/>
                          </a:solidFill>
                          <a:latin typeface="Arimo" pitchFamily="34" charset="0"/>
                          <a:ea typeface="Arimo" pitchFamily="34" charset="-122"/>
                          <a:cs typeface="Arimo" pitchFamily="34" charset="-120"/>
                        </a:rPr>
                        <a:t>0</a:t>
                      </a:r>
                      <a:endParaRPr lang="en-US" sz="1300" dirty="0">
                        <a:latin typeface="Arimo" charset="0"/>
                        <a:ea typeface="Arimo" charset="0"/>
                        <a:cs typeface="Arimo" charset="0"/>
                      </a:endParaRPr>
                    </a:p>
                  </a:txBody>
                  <a:tcPr marL="165391" marR="165391" marT="6350" marB="635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</a:tcPr>
                </a:tc>
              </a:tr>
              <a:tr h="48209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2A2742"/>
                          </a:solidFill>
                          <a:latin typeface="Arimo" pitchFamily="34" charset="0"/>
                          <a:ea typeface="Arimo" pitchFamily="34" charset="-122"/>
                          <a:cs typeface="Arimo" pitchFamily="34" charset="-120"/>
                        </a:rPr>
                        <a:t>0</a:t>
                      </a:r>
                      <a:endParaRPr lang="en-US" sz="1300" dirty="0">
                        <a:latin typeface="Arimo" charset="0"/>
                        <a:ea typeface="Arimo" charset="0"/>
                        <a:cs typeface="Arimo" charset="0"/>
                      </a:endParaRPr>
                    </a:p>
                  </a:txBody>
                  <a:tcPr marL="165391" marR="165391" marT="6350" marB="635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2A2742"/>
                          </a:solidFill>
                          <a:latin typeface="Arimo" pitchFamily="34" charset="0"/>
                          <a:ea typeface="Arimo" pitchFamily="34" charset="-122"/>
                          <a:cs typeface="Arimo" pitchFamily="34" charset="-120"/>
                        </a:rPr>
                        <a:t>0</a:t>
                      </a:r>
                      <a:endParaRPr lang="en-US" sz="1300" dirty="0">
                        <a:latin typeface="Arimo" charset="0"/>
                        <a:ea typeface="Arimo" charset="0"/>
                        <a:cs typeface="Arimo" charset="0"/>
                      </a:endParaRPr>
                    </a:p>
                  </a:txBody>
                  <a:tcPr marL="165391" marR="165391" marT="6350" marB="635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2A2742"/>
                          </a:solidFill>
                          <a:latin typeface="Arimo" pitchFamily="34" charset="0"/>
                          <a:ea typeface="Arimo" pitchFamily="34" charset="-122"/>
                          <a:cs typeface="Arimo" pitchFamily="34" charset="-120"/>
                        </a:rPr>
                        <a:t>0</a:t>
                      </a:r>
                      <a:endParaRPr lang="en-US" sz="1300" dirty="0">
                        <a:latin typeface="Arimo" charset="0"/>
                        <a:ea typeface="Arimo" charset="0"/>
                        <a:cs typeface="Arimo" charset="0"/>
                      </a:endParaRPr>
                    </a:p>
                  </a:txBody>
                  <a:tcPr marL="165391" marR="165391" marT="6350" marB="635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2A2742"/>
                          </a:solidFill>
                          <a:latin typeface="Arimo" pitchFamily="34" charset="0"/>
                          <a:ea typeface="Arimo" pitchFamily="34" charset="-122"/>
                          <a:cs typeface="Arimo" pitchFamily="34" charset="-120"/>
                        </a:rPr>
                        <a:t>1</a:t>
                      </a:r>
                      <a:endParaRPr lang="en-US" sz="1300" dirty="0">
                        <a:latin typeface="Arimo" charset="0"/>
                        <a:ea typeface="Arimo" charset="0"/>
                        <a:cs typeface="Arimo" charset="0"/>
                      </a:endParaRPr>
                    </a:p>
                  </a:txBody>
                  <a:tcPr marL="165391" marR="165391" marT="6350" marB="635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rgbClr val="231971"/>
                          </a:solidFill>
                          <a:latin typeface="Arimo" pitchFamily="34" charset="0"/>
                          <a:ea typeface="Arimo" pitchFamily="34" charset="-122"/>
                          <a:cs typeface="Arimo" pitchFamily="34" charset="-120"/>
                        </a:rPr>
                        <a:t>1 </a:t>
                      </a:r>
                      <a:endParaRPr lang="en-US" sz="1300" dirty="0">
                        <a:latin typeface="Arimo" charset="0"/>
                        <a:ea typeface="Arimo" charset="0"/>
                        <a:cs typeface="Arimo" charset="0"/>
                      </a:endParaRPr>
                    </a:p>
                  </a:txBody>
                  <a:tcPr marL="165391" marR="165391" marT="6350" marB="635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2A2742"/>
                          </a:solidFill>
                          <a:latin typeface="Arimo" pitchFamily="34" charset="0"/>
                          <a:ea typeface="Arimo" pitchFamily="34" charset="-122"/>
                          <a:cs typeface="Arimo" pitchFamily="34" charset="-120"/>
                        </a:rPr>
                        <a:t>0</a:t>
                      </a:r>
                      <a:endParaRPr lang="en-US" sz="1300" dirty="0">
                        <a:latin typeface="Arimo" charset="0"/>
                        <a:ea typeface="Arimo" charset="0"/>
                        <a:cs typeface="Arimo" charset="0"/>
                      </a:endParaRPr>
                    </a:p>
                  </a:txBody>
                  <a:tcPr marL="165391" marR="165391" marT="6350" marB="635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</a:tcPr>
                </a:tc>
              </a:tr>
              <a:tr h="48209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2A2742"/>
                          </a:solidFill>
                          <a:latin typeface="Arimo" pitchFamily="34" charset="0"/>
                          <a:ea typeface="Arimo" pitchFamily="34" charset="-122"/>
                          <a:cs typeface="Arimo" pitchFamily="34" charset="-120"/>
                        </a:rPr>
                        <a:t>0</a:t>
                      </a:r>
                      <a:endParaRPr lang="en-US" sz="1300" dirty="0">
                        <a:latin typeface="Arimo" charset="0"/>
                        <a:ea typeface="Arimo" charset="0"/>
                        <a:cs typeface="Arimo" charset="0"/>
                      </a:endParaRPr>
                    </a:p>
                  </a:txBody>
                  <a:tcPr marL="165391" marR="165391" marT="6350" marB="635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2A2742"/>
                          </a:solidFill>
                          <a:latin typeface="Arimo" pitchFamily="34" charset="0"/>
                          <a:ea typeface="Arimo" pitchFamily="34" charset="-122"/>
                          <a:cs typeface="Arimo" pitchFamily="34" charset="-120"/>
                        </a:rPr>
                        <a:t>0</a:t>
                      </a:r>
                      <a:endParaRPr lang="en-US" sz="1300" dirty="0">
                        <a:latin typeface="Arimo" charset="0"/>
                        <a:ea typeface="Arimo" charset="0"/>
                        <a:cs typeface="Arimo" charset="0"/>
                      </a:endParaRPr>
                    </a:p>
                  </a:txBody>
                  <a:tcPr marL="165391" marR="165391" marT="6350" marB="635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2A2742"/>
                          </a:solidFill>
                          <a:latin typeface="Arimo" pitchFamily="34" charset="0"/>
                          <a:ea typeface="Arimo" pitchFamily="34" charset="-122"/>
                          <a:cs typeface="Arimo" pitchFamily="34" charset="-120"/>
                        </a:rPr>
                        <a:t>1</a:t>
                      </a:r>
                      <a:endParaRPr lang="en-US" sz="1300" dirty="0">
                        <a:latin typeface="Arimo" charset="0"/>
                        <a:ea typeface="Arimo" charset="0"/>
                        <a:cs typeface="Arimo" charset="0"/>
                      </a:endParaRPr>
                    </a:p>
                  </a:txBody>
                  <a:tcPr marL="165391" marR="165391" marT="6350" marB="635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2A2742"/>
                          </a:solidFill>
                          <a:latin typeface="Arimo" pitchFamily="34" charset="0"/>
                          <a:ea typeface="Arimo" pitchFamily="34" charset="-122"/>
                          <a:cs typeface="Arimo" pitchFamily="34" charset="-120"/>
                        </a:rPr>
                        <a:t>1</a:t>
                      </a:r>
                      <a:endParaRPr lang="en-US" sz="1300" dirty="0">
                        <a:latin typeface="Arimo" charset="0"/>
                        <a:ea typeface="Arimo" charset="0"/>
                        <a:cs typeface="Arimo" charset="0"/>
                      </a:endParaRPr>
                    </a:p>
                  </a:txBody>
                  <a:tcPr marL="165391" marR="165391" marT="6350" marB="635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rgbClr val="231971"/>
                          </a:solidFill>
                          <a:latin typeface="Arimo" pitchFamily="34" charset="0"/>
                          <a:ea typeface="Arimo" pitchFamily="34" charset="-122"/>
                          <a:cs typeface="Arimo" pitchFamily="34" charset="-120"/>
                        </a:rPr>
                        <a:t>1</a:t>
                      </a:r>
                      <a:endParaRPr lang="en-US" sz="1300" dirty="0">
                        <a:latin typeface="Arimo" charset="0"/>
                        <a:ea typeface="Arimo" charset="0"/>
                        <a:cs typeface="Arimo" charset="0"/>
                      </a:endParaRPr>
                    </a:p>
                  </a:txBody>
                  <a:tcPr marL="165391" marR="165391" marT="6350" marB="635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2A2742"/>
                          </a:solidFill>
                          <a:latin typeface="Arimo" pitchFamily="34" charset="0"/>
                          <a:ea typeface="Arimo" pitchFamily="34" charset="-122"/>
                          <a:cs typeface="Arimo" pitchFamily="34" charset="-120"/>
                        </a:rPr>
                        <a:t>0</a:t>
                      </a:r>
                      <a:endParaRPr lang="en-US" sz="1300" dirty="0">
                        <a:latin typeface="Arimo" charset="0"/>
                        <a:ea typeface="Arimo" charset="0"/>
                        <a:cs typeface="Arimo" charset="0"/>
                      </a:endParaRPr>
                    </a:p>
                  </a:txBody>
                  <a:tcPr marL="165391" marR="165391" marT="6350" marB="635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</a:tcPr>
                </a:tc>
              </a:tr>
              <a:tr h="48209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2A2742"/>
                          </a:solidFill>
                          <a:latin typeface="Arimo" pitchFamily="34" charset="0"/>
                          <a:ea typeface="Arimo" pitchFamily="34" charset="-122"/>
                          <a:cs typeface="Arimo" pitchFamily="34" charset="-120"/>
                        </a:rPr>
                        <a:t>1</a:t>
                      </a:r>
                      <a:endParaRPr lang="en-US" sz="1300" dirty="0">
                        <a:latin typeface="Arimo" charset="0"/>
                        <a:ea typeface="Arimo" charset="0"/>
                        <a:cs typeface="Arimo" charset="0"/>
                      </a:endParaRPr>
                    </a:p>
                  </a:txBody>
                  <a:tcPr marL="165391" marR="165391" marT="6350" marB="635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2A2742"/>
                          </a:solidFill>
                          <a:latin typeface="Arimo" pitchFamily="34" charset="0"/>
                          <a:ea typeface="Arimo" pitchFamily="34" charset="-122"/>
                          <a:cs typeface="Arimo" pitchFamily="34" charset="-120"/>
                        </a:rPr>
                        <a:t>1</a:t>
                      </a:r>
                      <a:endParaRPr lang="en-US" sz="1300" dirty="0">
                        <a:latin typeface="Arimo" charset="0"/>
                        <a:ea typeface="Arimo" charset="0"/>
                        <a:cs typeface="Arimo" charset="0"/>
                      </a:endParaRPr>
                    </a:p>
                  </a:txBody>
                  <a:tcPr marL="165391" marR="165391" marT="6350" marB="635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2A2742"/>
                          </a:solidFill>
                          <a:latin typeface="Arimo" pitchFamily="34" charset="0"/>
                          <a:ea typeface="Arimo" pitchFamily="34" charset="-122"/>
                          <a:cs typeface="Arimo" pitchFamily="34" charset="-120"/>
                        </a:rPr>
                        <a:t>1</a:t>
                      </a:r>
                      <a:endParaRPr lang="en-US" sz="1300" dirty="0">
                        <a:latin typeface="Arimo" charset="0"/>
                        <a:ea typeface="Arimo" charset="0"/>
                        <a:cs typeface="Arimo" charset="0"/>
                      </a:endParaRPr>
                    </a:p>
                  </a:txBody>
                  <a:tcPr marL="165391" marR="165391" marT="6350" marB="635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2A2742"/>
                          </a:solidFill>
                          <a:latin typeface="Arimo" pitchFamily="34" charset="0"/>
                          <a:ea typeface="Arimo" pitchFamily="34" charset="-122"/>
                          <a:cs typeface="Arimo" pitchFamily="34" charset="-120"/>
                        </a:rPr>
                        <a:t>0</a:t>
                      </a:r>
                      <a:endParaRPr lang="en-US" sz="1300" dirty="0">
                        <a:latin typeface="Arimo" charset="0"/>
                        <a:ea typeface="Arimo" charset="0"/>
                        <a:cs typeface="Arimo" charset="0"/>
                      </a:endParaRPr>
                    </a:p>
                  </a:txBody>
                  <a:tcPr marL="165391" marR="165391" marT="6350" marB="635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rgbClr val="231971"/>
                          </a:solidFill>
                          <a:latin typeface="Arimo" pitchFamily="34" charset="0"/>
                          <a:ea typeface="Arimo" pitchFamily="34" charset="-122"/>
                          <a:cs typeface="Arimo" pitchFamily="34" charset="-120"/>
                        </a:rPr>
                        <a:t>1</a:t>
                      </a:r>
                      <a:endParaRPr lang="en-US" sz="1300" dirty="0">
                        <a:latin typeface="Arimo" charset="0"/>
                        <a:ea typeface="Arimo" charset="0"/>
                        <a:cs typeface="Arimo" charset="0"/>
                      </a:endParaRPr>
                    </a:p>
                  </a:txBody>
                  <a:tcPr marL="165391" marR="165391" marT="6350" marB="635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2A2742"/>
                          </a:solidFill>
                          <a:latin typeface="Arimo" pitchFamily="34" charset="0"/>
                          <a:ea typeface="Arimo" pitchFamily="34" charset="-122"/>
                          <a:cs typeface="Arimo" pitchFamily="34" charset="-120"/>
                        </a:rPr>
                        <a:t>0</a:t>
                      </a:r>
                      <a:endParaRPr lang="en-US" sz="1300" dirty="0">
                        <a:latin typeface="Arimo" charset="0"/>
                        <a:ea typeface="Arimo" charset="0"/>
                        <a:cs typeface="Arimo" charset="0"/>
                      </a:endParaRPr>
                    </a:p>
                  </a:txBody>
                  <a:tcPr marL="165391" marR="165391" marT="6350" marB="635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</a:tcPr>
                </a:tc>
              </a:tr>
              <a:tr h="478917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2A2742"/>
                          </a:solidFill>
                          <a:latin typeface="Arimo" pitchFamily="34" charset="0"/>
                          <a:ea typeface="Arimo" pitchFamily="34" charset="-122"/>
                          <a:cs typeface="Arimo" pitchFamily="34" charset="-120"/>
                        </a:rPr>
                        <a:t>1</a:t>
                      </a:r>
                      <a:endParaRPr lang="en-US" sz="1300" dirty="0">
                        <a:latin typeface="Arimo" charset="0"/>
                        <a:ea typeface="Arimo" charset="0"/>
                        <a:cs typeface="Arimo" charset="0"/>
                      </a:endParaRPr>
                    </a:p>
                  </a:txBody>
                  <a:tcPr marL="165391" marR="165391" marT="6350" marB="635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2A2742"/>
                          </a:solidFill>
                          <a:latin typeface="Arimo" pitchFamily="34" charset="0"/>
                          <a:ea typeface="Arimo" pitchFamily="34" charset="-122"/>
                          <a:cs typeface="Arimo" pitchFamily="34" charset="-120"/>
                        </a:rPr>
                        <a:t>1</a:t>
                      </a:r>
                      <a:endParaRPr lang="en-US" sz="1300" dirty="0">
                        <a:latin typeface="Arimo" charset="0"/>
                        <a:ea typeface="Arimo" charset="0"/>
                        <a:cs typeface="Arimo" charset="0"/>
                      </a:endParaRPr>
                    </a:p>
                  </a:txBody>
                  <a:tcPr marL="165391" marR="165391" marT="6350" marB="635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2A2742"/>
                          </a:solidFill>
                          <a:latin typeface="Arimo" pitchFamily="34" charset="0"/>
                          <a:ea typeface="Arimo" pitchFamily="34" charset="-122"/>
                          <a:cs typeface="Arimo" pitchFamily="34" charset="-120"/>
                        </a:rPr>
                        <a:t>1</a:t>
                      </a:r>
                      <a:endParaRPr lang="en-US" sz="1300" dirty="0">
                        <a:latin typeface="Arimo" charset="0"/>
                        <a:ea typeface="Arimo" charset="0"/>
                        <a:cs typeface="Arimo" charset="0"/>
                      </a:endParaRPr>
                    </a:p>
                  </a:txBody>
                  <a:tcPr marL="165391" marR="165391" marT="6350" marB="635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2A2742"/>
                          </a:solidFill>
                          <a:latin typeface="Arimo" pitchFamily="34" charset="0"/>
                          <a:ea typeface="Arimo" pitchFamily="34" charset="-122"/>
                          <a:cs typeface="Arimo" pitchFamily="34" charset="-120"/>
                        </a:rPr>
                        <a:t>1</a:t>
                      </a:r>
                      <a:endParaRPr lang="en-US" sz="1300" dirty="0">
                        <a:latin typeface="Arimo" charset="0"/>
                        <a:ea typeface="Arimo" charset="0"/>
                        <a:cs typeface="Arimo" charset="0"/>
                      </a:endParaRPr>
                    </a:p>
                  </a:txBody>
                  <a:tcPr marL="165391" marR="165391" marT="6350" marB="635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2A2742"/>
                          </a:solidFill>
                          <a:latin typeface="Arimo" pitchFamily="34" charset="0"/>
                          <a:ea typeface="Arimo" pitchFamily="34" charset="-122"/>
                          <a:cs typeface="Arimo" pitchFamily="34" charset="-120"/>
                        </a:rPr>
                        <a:t>0 </a:t>
                      </a:r>
                      <a:endParaRPr lang="en-US" sz="1300" dirty="0">
                        <a:latin typeface="Arimo" charset="0"/>
                        <a:ea typeface="Arimo" charset="0"/>
                        <a:cs typeface="Arimo" charset="0"/>
                      </a:endParaRPr>
                    </a:p>
                  </a:txBody>
                  <a:tcPr marL="165391" marR="165391" marT="6350" marB="635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231971"/>
                          </a:solidFill>
                          <a:latin typeface="Arimo" pitchFamily="34" charset="0"/>
                          <a:ea typeface="Arimo" pitchFamily="34" charset="-122"/>
                          <a:cs typeface="Arimo" pitchFamily="34" charset="-120"/>
                        </a:rPr>
                        <a:t>1</a:t>
                      </a:r>
                      <a:endParaRPr lang="en-US" sz="1300" dirty="0">
                        <a:latin typeface="Arimo" charset="0"/>
                        <a:ea typeface="Arimo" charset="0"/>
                        <a:cs typeface="Arimo" charset="0"/>
                      </a:endParaRPr>
                    </a:p>
                  </a:txBody>
                  <a:tcPr marL="165391" marR="165391" marT="6350" marB="635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</a:tcPr>
                </a:tc>
              </a:tr>
            </a:tbl>
          </a:graphicData>
        </a:graphic>
      </p:graphicFrame>
      <p:sp>
        <p:nvSpPr>
          <p:cNvPr id="7" name="Shape 4"/>
          <p:cNvSpPr/>
          <p:nvPr/>
        </p:nvSpPr>
        <p:spPr>
          <a:xfrm>
            <a:off x="661475" y="3201064"/>
            <a:ext cx="5232666" cy="10337"/>
          </a:xfrm>
          <a:prstGeom prst="rect">
            <a:avLst/>
          </a:prstGeom>
          <a:solidFill>
            <a:srgbClr val="000000">
              <a:alpha val="8000"/>
            </a:srgbClr>
          </a:solidFill>
          <a:ln/>
        </p:spPr>
      </p:sp>
      <p:sp>
        <p:nvSpPr>
          <p:cNvPr id="8" name="Shape 5"/>
          <p:cNvSpPr/>
          <p:nvPr/>
        </p:nvSpPr>
        <p:spPr>
          <a:xfrm>
            <a:off x="661475" y="3683156"/>
            <a:ext cx="5232666" cy="10337"/>
          </a:xfrm>
          <a:prstGeom prst="rect">
            <a:avLst/>
          </a:prstGeom>
          <a:solidFill>
            <a:srgbClr val="000000">
              <a:alpha val="8000"/>
            </a:srgbClr>
          </a:solidFill>
          <a:ln/>
        </p:spPr>
      </p:sp>
      <p:sp>
        <p:nvSpPr>
          <p:cNvPr id="9" name="Shape 6"/>
          <p:cNvSpPr/>
          <p:nvPr/>
        </p:nvSpPr>
        <p:spPr>
          <a:xfrm>
            <a:off x="661475" y="4165248"/>
            <a:ext cx="5232666" cy="10337"/>
          </a:xfrm>
          <a:prstGeom prst="rect">
            <a:avLst/>
          </a:prstGeom>
          <a:solidFill>
            <a:srgbClr val="000000">
              <a:alpha val="8000"/>
            </a:srgbClr>
          </a:solidFill>
          <a:ln/>
        </p:spPr>
      </p:sp>
      <p:sp>
        <p:nvSpPr>
          <p:cNvPr id="10" name="Shape 7"/>
          <p:cNvSpPr/>
          <p:nvPr/>
        </p:nvSpPr>
        <p:spPr>
          <a:xfrm>
            <a:off x="661475" y="4647340"/>
            <a:ext cx="5232666" cy="10337"/>
          </a:xfrm>
          <a:prstGeom prst="rect">
            <a:avLst/>
          </a:prstGeom>
          <a:solidFill>
            <a:srgbClr val="000000">
              <a:alpha val="8000"/>
            </a:srgbClr>
          </a:solidFill>
          <a:ln/>
        </p:spPr>
      </p:sp>
      <p:sp>
        <p:nvSpPr>
          <p:cNvPr id="11" name="Shape 8"/>
          <p:cNvSpPr/>
          <p:nvPr/>
        </p:nvSpPr>
        <p:spPr>
          <a:xfrm>
            <a:off x="661475" y="5129432"/>
            <a:ext cx="5232666" cy="10337"/>
          </a:xfrm>
          <a:prstGeom prst="rect">
            <a:avLst/>
          </a:prstGeom>
          <a:solidFill>
            <a:srgbClr val="000000">
              <a:alpha val="8000"/>
            </a:srgbClr>
          </a:solidFill>
          <a:ln/>
        </p:spPr>
      </p:sp>
      <p:sp>
        <p:nvSpPr>
          <p:cNvPr id="12" name="Text 9"/>
          <p:cNvSpPr/>
          <p:nvPr/>
        </p:nvSpPr>
        <p:spPr>
          <a:xfrm>
            <a:off x="6303904" y="2287984"/>
            <a:ext cx="5232666" cy="25846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600" dirty="0">
                <a:solidFill>
                  <a:srgbClr val="231971"/>
                </a:solidFill>
                <a:latin typeface="Outfit ExtraBold" pitchFamily="34" charset="0"/>
                <a:ea typeface="Outfit ExtraBold" pitchFamily="34" charset="-122"/>
                <a:cs typeface="Outfit ExtraBold" pitchFamily="34" charset="-120"/>
              </a:rPr>
              <a:t>Entry Control — All Combinations</a:t>
            </a:r>
            <a:endParaRPr lang="en-US" sz="1600" dirty="0"/>
          </a:p>
        </p:txBody>
      </p:sp>
      <p:graphicFrame>
        <p:nvGraphicFramePr>
          <p:cNvPr id="11" name="Table 1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6303904" y="2732484"/>
          <a:ext cx="9143771" cy="914400"/>
        </p:xfrm>
        <a:graphic>
          <a:graphicData uri="http://schemas.openxmlformats.org/drawingml/2006/table">
            <a:tbl>
              <a:tblPr/>
              <a:tblGrid>
                <a:gridCol w="999962"/>
                <a:gridCol w="1420146"/>
                <a:gridCol w="2812558"/>
              </a:tblGrid>
              <a:tr h="478917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  <a:latin typeface="Arimo" pitchFamily="34" charset="0"/>
                          <a:ea typeface="Arimo" pitchFamily="34" charset="-122"/>
                          <a:cs typeface="Arimo" pitchFamily="34" charset="-120"/>
                        </a:rPr>
                        <a:t>E</a:t>
                      </a:r>
                      <a:endParaRPr lang="en-US" sz="1300" dirty="0">
                        <a:latin typeface="Arimo" charset="0"/>
                        <a:ea typeface="Arimo" charset="0"/>
                        <a:cs typeface="Arimo" charset="0"/>
                      </a:endParaRPr>
                    </a:p>
                  </a:txBody>
                  <a:tcPr marL="165391" marR="165391" marT="6350" marB="635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23197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  <a:latin typeface="Arimo" pitchFamily="34" charset="0"/>
                          <a:ea typeface="Arimo" pitchFamily="34" charset="-122"/>
                          <a:cs typeface="Arimo" pitchFamily="34" charset="-120"/>
                        </a:rPr>
                        <a:t>AVAILABLE</a:t>
                      </a:r>
                      <a:endParaRPr lang="en-US" sz="1300" dirty="0">
                        <a:latin typeface="Arimo" charset="0"/>
                        <a:ea typeface="Arimo" charset="0"/>
                        <a:cs typeface="Arimo" charset="0"/>
                      </a:endParaRPr>
                    </a:p>
                  </a:txBody>
                  <a:tcPr marL="165391" marR="165391" marT="6350" marB="635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23197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  <a:latin typeface="Arimo" pitchFamily="34" charset="0"/>
                          <a:ea typeface="Arimo" pitchFamily="34" charset="-122"/>
                          <a:cs typeface="Arimo" pitchFamily="34" charset="-120"/>
                        </a:rPr>
                        <a:t>ENTRY</a:t>
                      </a:r>
                      <a:endParaRPr lang="en-US" sz="1300" dirty="0">
                        <a:latin typeface="Arimo" charset="0"/>
                        <a:ea typeface="Arimo" charset="0"/>
                        <a:cs typeface="Arimo" charset="0"/>
                      </a:endParaRPr>
                    </a:p>
                  </a:txBody>
                  <a:tcPr marL="165391" marR="165391" marT="6350" marB="635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231971"/>
                    </a:solidFill>
                  </a:tcPr>
                </a:tc>
              </a:tr>
              <a:tr h="48209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2A2742"/>
                          </a:solidFill>
                          <a:latin typeface="Arimo" pitchFamily="34" charset="0"/>
                          <a:ea typeface="Arimo" pitchFamily="34" charset="-122"/>
                          <a:cs typeface="Arimo" pitchFamily="34" charset="-120"/>
                        </a:rPr>
                        <a:t>0</a:t>
                      </a:r>
                      <a:endParaRPr lang="en-US" sz="1300" dirty="0">
                        <a:latin typeface="Arimo" charset="0"/>
                        <a:ea typeface="Arimo" charset="0"/>
                        <a:cs typeface="Arimo" charset="0"/>
                      </a:endParaRPr>
                    </a:p>
                  </a:txBody>
                  <a:tcPr marL="165391" marR="165391" marT="6350" marB="635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2A2742"/>
                          </a:solidFill>
                          <a:latin typeface="Arimo" pitchFamily="34" charset="0"/>
                          <a:ea typeface="Arimo" pitchFamily="34" charset="-122"/>
                          <a:cs typeface="Arimo" pitchFamily="34" charset="-120"/>
                        </a:rPr>
                        <a:t>0</a:t>
                      </a:r>
                      <a:endParaRPr lang="en-US" sz="1300" dirty="0">
                        <a:latin typeface="Arimo" charset="0"/>
                        <a:ea typeface="Arimo" charset="0"/>
                        <a:cs typeface="Arimo" charset="0"/>
                      </a:endParaRPr>
                    </a:p>
                  </a:txBody>
                  <a:tcPr marL="165391" marR="165391" marT="6350" marB="635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2A2742"/>
                          </a:solidFill>
                          <a:latin typeface="Arimo" pitchFamily="34" charset="0"/>
                          <a:ea typeface="Arimo" pitchFamily="34" charset="-122"/>
                          <a:cs typeface="Arimo" pitchFamily="34" charset="-120"/>
                        </a:rPr>
                        <a:t>0 </a:t>
                      </a:r>
                      <a:endParaRPr lang="en-US" sz="1300" dirty="0">
                        <a:latin typeface="Arimo" charset="0"/>
                        <a:ea typeface="Arimo" charset="0"/>
                        <a:cs typeface="Arimo" charset="0"/>
                      </a:endParaRPr>
                    </a:p>
                  </a:txBody>
                  <a:tcPr marL="165391" marR="165391" marT="6350" marB="635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</a:tcPr>
                </a:tc>
              </a:tr>
              <a:tr h="48209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2A2742"/>
                          </a:solidFill>
                          <a:latin typeface="Arimo" pitchFamily="34" charset="0"/>
                          <a:ea typeface="Arimo" pitchFamily="34" charset="-122"/>
                          <a:cs typeface="Arimo" pitchFamily="34" charset="-120"/>
                        </a:rPr>
                        <a:t>0</a:t>
                      </a:r>
                      <a:endParaRPr lang="en-US" sz="1300" dirty="0">
                        <a:latin typeface="Arimo" charset="0"/>
                        <a:ea typeface="Arimo" charset="0"/>
                        <a:cs typeface="Arimo" charset="0"/>
                      </a:endParaRPr>
                    </a:p>
                  </a:txBody>
                  <a:tcPr marL="165391" marR="165391" marT="6350" marB="635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2A2742"/>
                          </a:solidFill>
                          <a:latin typeface="Arimo" pitchFamily="34" charset="0"/>
                          <a:ea typeface="Arimo" pitchFamily="34" charset="-122"/>
                          <a:cs typeface="Arimo" pitchFamily="34" charset="-120"/>
                        </a:rPr>
                        <a:t>1</a:t>
                      </a:r>
                      <a:endParaRPr lang="en-US" sz="1300" dirty="0">
                        <a:latin typeface="Arimo" charset="0"/>
                        <a:ea typeface="Arimo" charset="0"/>
                        <a:cs typeface="Arimo" charset="0"/>
                      </a:endParaRPr>
                    </a:p>
                  </a:txBody>
                  <a:tcPr marL="165391" marR="165391" marT="6350" marB="635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2A2742"/>
                          </a:solidFill>
                          <a:latin typeface="Arimo" pitchFamily="34" charset="0"/>
                          <a:ea typeface="Arimo" pitchFamily="34" charset="-122"/>
                          <a:cs typeface="Arimo" pitchFamily="34" charset="-120"/>
                        </a:rPr>
                        <a:t>0 </a:t>
                      </a:r>
                      <a:endParaRPr lang="en-US" sz="1300" dirty="0">
                        <a:latin typeface="Arimo" charset="0"/>
                        <a:ea typeface="Arimo" charset="0"/>
                        <a:cs typeface="Arimo" charset="0"/>
                      </a:endParaRPr>
                    </a:p>
                  </a:txBody>
                  <a:tcPr marL="165391" marR="165391" marT="6350" marB="635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</a:tcPr>
                </a:tc>
              </a:tr>
              <a:tr h="48209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2A2742"/>
                          </a:solidFill>
                          <a:latin typeface="Arimo" pitchFamily="34" charset="0"/>
                          <a:ea typeface="Arimo" pitchFamily="34" charset="-122"/>
                          <a:cs typeface="Arimo" pitchFamily="34" charset="-120"/>
                        </a:rPr>
                        <a:t>1</a:t>
                      </a:r>
                      <a:endParaRPr lang="en-US" sz="1300" dirty="0">
                        <a:latin typeface="Arimo" charset="0"/>
                        <a:ea typeface="Arimo" charset="0"/>
                        <a:cs typeface="Arimo" charset="0"/>
                      </a:endParaRPr>
                    </a:p>
                  </a:txBody>
                  <a:tcPr marL="165391" marR="165391" marT="6350" marB="635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2A2742"/>
                          </a:solidFill>
                          <a:latin typeface="Arimo" pitchFamily="34" charset="0"/>
                          <a:ea typeface="Arimo" pitchFamily="34" charset="-122"/>
                          <a:cs typeface="Arimo" pitchFamily="34" charset="-120"/>
                        </a:rPr>
                        <a:t>0</a:t>
                      </a:r>
                      <a:endParaRPr lang="en-US" sz="1300" dirty="0">
                        <a:latin typeface="Arimo" charset="0"/>
                        <a:ea typeface="Arimo" charset="0"/>
                        <a:cs typeface="Arimo" charset="0"/>
                      </a:endParaRPr>
                    </a:p>
                  </a:txBody>
                  <a:tcPr marL="165391" marR="165391" marT="6350" marB="635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2A2742"/>
                          </a:solidFill>
                          <a:latin typeface="Arimo" pitchFamily="34" charset="0"/>
                          <a:ea typeface="Arimo" pitchFamily="34" charset="-122"/>
                          <a:cs typeface="Arimo" pitchFamily="34" charset="-120"/>
                        </a:rPr>
                        <a:t>0 </a:t>
                      </a:r>
                      <a:endParaRPr lang="en-US" sz="1300" dirty="0">
                        <a:latin typeface="Arimo" charset="0"/>
                        <a:ea typeface="Arimo" charset="0"/>
                        <a:cs typeface="Arimo" charset="0"/>
                      </a:endParaRPr>
                    </a:p>
                  </a:txBody>
                  <a:tcPr marL="165391" marR="165391" marT="6350" marB="635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</a:tcPr>
                </a:tc>
              </a:tr>
              <a:tr h="478917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2A2742"/>
                          </a:solidFill>
                          <a:latin typeface="Arimo" pitchFamily="34" charset="0"/>
                          <a:ea typeface="Arimo" pitchFamily="34" charset="-122"/>
                          <a:cs typeface="Arimo" pitchFamily="34" charset="-120"/>
                        </a:rPr>
                        <a:t>1</a:t>
                      </a:r>
                      <a:endParaRPr lang="en-US" sz="1300" dirty="0">
                        <a:latin typeface="Arimo" charset="0"/>
                        <a:ea typeface="Arimo" charset="0"/>
                        <a:cs typeface="Arimo" charset="0"/>
                      </a:endParaRPr>
                    </a:p>
                  </a:txBody>
                  <a:tcPr marL="165391" marR="165391" marT="6350" marB="635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2A2742"/>
                          </a:solidFill>
                          <a:latin typeface="Arimo" pitchFamily="34" charset="0"/>
                          <a:ea typeface="Arimo" pitchFamily="34" charset="-122"/>
                          <a:cs typeface="Arimo" pitchFamily="34" charset="-120"/>
                        </a:rPr>
                        <a:t>1</a:t>
                      </a:r>
                      <a:endParaRPr lang="en-US" sz="1300" dirty="0">
                        <a:latin typeface="Arimo" charset="0"/>
                        <a:ea typeface="Arimo" charset="0"/>
                        <a:cs typeface="Arimo" charset="0"/>
                      </a:endParaRPr>
                    </a:p>
                  </a:txBody>
                  <a:tcPr marL="165391" marR="165391" marT="6350" marB="635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rgbClr val="231971"/>
                          </a:solidFill>
                          <a:latin typeface="Arimo" pitchFamily="34" charset="0"/>
                          <a:ea typeface="Arimo" pitchFamily="34" charset="-122"/>
                          <a:cs typeface="Arimo" pitchFamily="34" charset="-120"/>
                        </a:rPr>
                        <a:t>1</a:t>
                      </a:r>
                      <a:endParaRPr lang="en-US" sz="1300" dirty="0">
                        <a:latin typeface="Arimo" charset="0"/>
                        <a:ea typeface="Arimo" charset="0"/>
                        <a:cs typeface="Arimo" charset="0"/>
                      </a:endParaRPr>
                    </a:p>
                  </a:txBody>
                  <a:tcPr marL="165391" marR="165391" marT="6350" marB="635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</a:tcPr>
                </a:tc>
              </a:tr>
            </a:tbl>
          </a:graphicData>
        </a:graphic>
      </p:graphicFrame>
      <p:sp>
        <p:nvSpPr>
          <p:cNvPr id="14" name="Shape 10"/>
          <p:cNvSpPr/>
          <p:nvPr/>
        </p:nvSpPr>
        <p:spPr>
          <a:xfrm>
            <a:off x="6303904" y="3201064"/>
            <a:ext cx="5232666" cy="10337"/>
          </a:xfrm>
          <a:prstGeom prst="rect">
            <a:avLst/>
          </a:prstGeom>
          <a:solidFill>
            <a:srgbClr val="000000">
              <a:alpha val="8000"/>
            </a:srgbClr>
          </a:solidFill>
          <a:ln/>
        </p:spPr>
      </p:sp>
      <p:sp>
        <p:nvSpPr>
          <p:cNvPr id="15" name="Shape 11"/>
          <p:cNvSpPr/>
          <p:nvPr/>
        </p:nvSpPr>
        <p:spPr>
          <a:xfrm>
            <a:off x="6303904" y="3683156"/>
            <a:ext cx="5232666" cy="10337"/>
          </a:xfrm>
          <a:prstGeom prst="rect">
            <a:avLst/>
          </a:prstGeom>
          <a:solidFill>
            <a:srgbClr val="000000">
              <a:alpha val="8000"/>
            </a:srgbClr>
          </a:solidFill>
          <a:ln/>
        </p:spPr>
      </p:sp>
      <p:sp>
        <p:nvSpPr>
          <p:cNvPr id="16" name="Shape 12"/>
          <p:cNvSpPr/>
          <p:nvPr/>
        </p:nvSpPr>
        <p:spPr>
          <a:xfrm>
            <a:off x="6303904" y="4165248"/>
            <a:ext cx="5232666" cy="10337"/>
          </a:xfrm>
          <a:prstGeom prst="rect">
            <a:avLst/>
          </a:prstGeom>
          <a:solidFill>
            <a:srgbClr val="000000">
              <a:alpha val="8000"/>
            </a:srgbClr>
          </a:solidFill>
          <a:ln/>
        </p:spPr>
      </p:sp>
      <p:sp>
        <p:nvSpPr>
          <p:cNvPr id="17" name="Shape 13"/>
          <p:cNvSpPr/>
          <p:nvPr/>
        </p:nvSpPr>
        <p:spPr>
          <a:xfrm>
            <a:off x="6303904" y="4647340"/>
            <a:ext cx="5232666" cy="10337"/>
          </a:xfrm>
          <a:prstGeom prst="rect">
            <a:avLst/>
          </a:prstGeom>
          <a:solidFill>
            <a:srgbClr val="000000">
              <a:alpha val="8000"/>
            </a:srgbClr>
          </a:solidFill>
          <a:ln/>
        </p:spPr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61475" y="1236663"/>
            <a:ext cx="10868745" cy="51673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indent="0" marL="0">
              <a:lnSpc>
                <a:spcPct val="104000"/>
              </a:lnSpc>
              <a:buNone/>
            </a:pPr>
            <a:r>
              <a:rPr lang="en-US" sz="3250" dirty="0">
                <a:solidFill>
                  <a:srgbClr val="231971"/>
                </a:solidFill>
                <a:latin typeface="Outfit ExtraBold" pitchFamily="34" charset="0"/>
                <a:ea typeface="Outfit ExtraBold" pitchFamily="34" charset="-122"/>
                <a:cs typeface="Outfit ExtraBold" pitchFamily="34" charset="-120"/>
              </a:rPr>
              <a:t>Thank You!</a:t>
            </a:r>
            <a:endParaRPr lang="en-US" sz="3250" dirty="0"/>
          </a:p>
        </p:txBody>
      </p:sp>
      <p:sp>
        <p:nvSpPr>
          <p:cNvPr id="3" name="Text 1"/>
          <p:cNvSpPr/>
          <p:nvPr/>
        </p:nvSpPr>
        <p:spPr>
          <a:xfrm>
            <a:off x="661475" y="2001441"/>
            <a:ext cx="10868745" cy="1426369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lnSpc>
                <a:spcPct val="104000"/>
              </a:lnSpc>
              <a:buNone/>
            </a:pPr>
            <a:r>
              <a:rPr lang="en-US" sz="4450" dirty="0">
                <a:solidFill>
                  <a:srgbClr val="231971"/>
                </a:solidFill>
                <a:latin typeface="Outfit ExtraBold" pitchFamily="34" charset="0"/>
                <a:ea typeface="Outfit ExtraBold" pitchFamily="34" charset="-122"/>
                <a:cs typeface="Outfit ExtraBold" pitchFamily="34" charset="-120"/>
              </a:rPr>
              <a:t>Smart Parking System · Combinational Logic Design</a:t>
            </a:r>
            <a:endParaRPr lang="en-US" sz="4450" dirty="0"/>
          </a:p>
        </p:txBody>
      </p:sp>
      <p:sp>
        <p:nvSpPr>
          <p:cNvPr id="4" name="Shape 2"/>
          <p:cNvSpPr/>
          <p:nvPr/>
        </p:nvSpPr>
        <p:spPr>
          <a:xfrm>
            <a:off x="661475" y="3675856"/>
            <a:ext cx="5351725" cy="1494830"/>
          </a:xfrm>
          <a:prstGeom prst="roundRect">
            <a:avLst>
              <a:gd name="adj" fmla="val 4647"/>
            </a:avLst>
          </a:prstGeom>
          <a:solidFill>
            <a:srgbClr val="E9E6FA"/>
          </a:solidFill>
          <a:ln w="6350">
            <a:solidFill>
              <a:srgbClr val="BDB8DF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833119" y="3847505"/>
            <a:ext cx="5008437" cy="25846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600" dirty="0">
                <a:solidFill>
                  <a:srgbClr val="2A2742"/>
                </a:solidFill>
                <a:latin typeface="Outfit ExtraBold" pitchFamily="34" charset="0"/>
                <a:ea typeface="Outfit ExtraBold" pitchFamily="34" charset="-122"/>
                <a:cs typeface="Outfit ExtraBold" pitchFamily="34" charset="-120"/>
              </a:rPr>
              <a:t>System Summary</a:t>
            </a:r>
            <a:endParaRPr lang="en-US" sz="1600" dirty="0"/>
          </a:p>
        </p:txBody>
      </p:sp>
      <p:sp>
        <p:nvSpPr>
          <p:cNvPr id="6" name="Text 4"/>
          <p:cNvSpPr/>
          <p:nvPr/>
        </p:nvSpPr>
        <p:spPr>
          <a:xfrm>
            <a:off x="833119" y="4205188"/>
            <a:ext cx="5008437" cy="793849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33000"/>
              </a:lnSpc>
              <a:buNone/>
            </a:pPr>
            <a:r>
              <a:rPr lang="en-US" sz="1300" dirty="0">
                <a:solidFill>
                  <a:srgbClr val="2A2742"/>
                </a:solidFill>
                <a:latin typeface="Arimo" pitchFamily="34" charset="0"/>
                <a:ea typeface="Arimo" pitchFamily="34" charset="-122"/>
                <a:cs typeface="Arimo" pitchFamily="34" charset="-120"/>
              </a:rPr>
              <a:t>A fully combinational digital circuit with </a:t>
            </a:r>
            <a:pPr algn="l" indent="0" marL="0">
              <a:lnSpc>
                <a:spcPct val="133000"/>
              </a:lnSpc>
              <a:buNone/>
            </a:pPr>
            <a:r>
              <a:rPr lang="en-US" sz="1300" b="1" dirty="0">
                <a:solidFill>
                  <a:srgbClr val="2A2742"/>
                </a:solidFill>
                <a:latin typeface="Arimo Bold" pitchFamily="34" charset="0"/>
                <a:ea typeface="Arimo Bold" pitchFamily="34" charset="-122"/>
                <a:cs typeface="Arimo Bold" pitchFamily="34" charset="-120"/>
              </a:rPr>
              <a:t>5 inputs</a:t>
            </a:r>
            <a:pPr algn="l" indent="0" marL="0">
              <a:lnSpc>
                <a:spcPct val="133000"/>
              </a:lnSpc>
              <a:buNone/>
            </a:pPr>
            <a:r>
              <a:rPr lang="en-US" sz="1300" dirty="0">
                <a:solidFill>
                  <a:srgbClr val="2A2742"/>
                </a:solidFill>
                <a:latin typeface="Arimo" pitchFamily="34" charset="0"/>
                <a:ea typeface="Arimo" pitchFamily="34" charset="-122"/>
                <a:cs typeface="Arimo" pitchFamily="34" charset="-120"/>
              </a:rPr>
              <a:t> and </a:t>
            </a:r>
            <a:pPr algn="l" indent="0" marL="0">
              <a:lnSpc>
                <a:spcPct val="133000"/>
              </a:lnSpc>
              <a:buNone/>
            </a:pPr>
            <a:r>
              <a:rPr lang="en-US" sz="1300" b="1" dirty="0">
                <a:solidFill>
                  <a:srgbClr val="2A2742"/>
                </a:solidFill>
                <a:latin typeface="Arimo Bold" pitchFamily="34" charset="0"/>
                <a:ea typeface="Arimo Bold" pitchFamily="34" charset="-122"/>
                <a:cs typeface="Arimo Bold" pitchFamily="34" charset="-120"/>
              </a:rPr>
              <a:t>3 outputs</a:t>
            </a:r>
            <a:pPr algn="l" indent="0" marL="0">
              <a:lnSpc>
                <a:spcPct val="133000"/>
              </a:lnSpc>
              <a:buNone/>
            </a:pPr>
            <a:r>
              <a:rPr lang="en-US" sz="1300" dirty="0">
                <a:solidFill>
                  <a:srgbClr val="2A2742"/>
                </a:solidFill>
                <a:latin typeface="Arimo" pitchFamily="34" charset="0"/>
                <a:ea typeface="Arimo" pitchFamily="34" charset="-122"/>
                <a:cs typeface="Arimo" pitchFamily="34" charset="-120"/>
              </a:rPr>
              <a:t>, implemented using NOT, OR, and AND gates — no memory elements required.</a:t>
            </a:r>
            <a:endParaRPr lang="en-US" sz="1300" dirty="0"/>
          </a:p>
        </p:txBody>
      </p:sp>
      <p:sp>
        <p:nvSpPr>
          <p:cNvPr id="7" name="Shape 5"/>
          <p:cNvSpPr/>
          <p:nvPr/>
        </p:nvSpPr>
        <p:spPr>
          <a:xfrm>
            <a:off x="6178495" y="3675856"/>
            <a:ext cx="5351725" cy="1494830"/>
          </a:xfrm>
          <a:prstGeom prst="roundRect">
            <a:avLst>
              <a:gd name="adj" fmla="val 4647"/>
            </a:avLst>
          </a:prstGeom>
          <a:solidFill>
            <a:srgbClr val="E9E6FA"/>
          </a:solidFill>
          <a:ln w="6350">
            <a:solidFill>
              <a:srgbClr val="BDB8DF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6350139" y="3847505"/>
            <a:ext cx="5008437" cy="25846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600" dirty="0">
                <a:solidFill>
                  <a:srgbClr val="2A2742"/>
                </a:solidFill>
                <a:latin typeface="Outfit ExtraBold" pitchFamily="34" charset="0"/>
                <a:ea typeface="Outfit ExtraBold" pitchFamily="34" charset="-122"/>
                <a:cs typeface="Outfit ExtraBold" pitchFamily="34" charset="-120"/>
              </a:rPr>
              <a:t>Boolean Expressions</a:t>
            </a:r>
            <a:endParaRPr lang="en-US" sz="1600" dirty="0"/>
          </a:p>
        </p:txBody>
      </p:sp>
      <p:sp>
        <p:nvSpPr>
          <p:cNvPr id="9" name="Text 7"/>
          <p:cNvSpPr/>
          <p:nvPr/>
        </p:nvSpPr>
        <p:spPr>
          <a:xfrm>
            <a:off x="6350139" y="4205188"/>
            <a:ext cx="5008437" cy="793849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33000"/>
              </a:lnSpc>
              <a:buNone/>
            </a:pPr>
            <a:r>
              <a:rPr lang="en-US" sz="1300" b="1" dirty="0">
                <a:solidFill>
                  <a:srgbClr val="2A2742"/>
                </a:solidFill>
                <a:latin typeface="Arimo Bold" pitchFamily="34" charset="0"/>
                <a:ea typeface="Arimo Bold" pitchFamily="34" charset="-122"/>
                <a:cs typeface="Arimo Bold" pitchFamily="34" charset="-120"/>
              </a:rPr>
              <a:t>AVAILABLE</a:t>
            </a:r>
            <a:pPr algn="l" indent="0" marL="0">
              <a:lnSpc>
                <a:spcPct val="133000"/>
              </a:lnSpc>
              <a:buNone/>
            </a:pPr>
            <a:r>
              <a:rPr lang="en-US" sz="1300" dirty="0">
                <a:solidFill>
                  <a:srgbClr val="2A2742"/>
                </a:solidFill>
                <a:latin typeface="Arimo" pitchFamily="34" charset="0"/>
                <a:ea typeface="Arimo" pitchFamily="34" charset="-122"/>
                <a:cs typeface="Arimo" pitchFamily="34" charset="-120"/>
              </a:rPr>
              <a:t> = ¬S1 + ¬S2 + ¬S3 + ¬S4</a:t>
            </a:r>
            <a:endParaRPr lang="en-US" sz="1300" dirty="0"/>
          </a:p>
          <a:p>
            <a:pPr algn="l" indent="0" marL="0">
              <a:lnSpc>
                <a:spcPct val="133000"/>
              </a:lnSpc>
              <a:buNone/>
            </a:pPr>
            <a:r>
              <a:rPr lang="en-US" sz="1300" b="1" dirty="0">
                <a:solidFill>
                  <a:srgbClr val="2A2742"/>
                </a:solidFill>
                <a:latin typeface="Arimo Bold" pitchFamily="34" charset="0"/>
                <a:ea typeface="Arimo Bold" pitchFamily="34" charset="-122"/>
                <a:cs typeface="Arimo Bold" pitchFamily="34" charset="-120"/>
              </a:rPr>
              <a:t>FULL</a:t>
            </a:r>
            <a:pPr algn="l" indent="0" marL="0">
              <a:lnSpc>
                <a:spcPct val="133000"/>
              </a:lnSpc>
              <a:buNone/>
            </a:pPr>
            <a:r>
              <a:rPr lang="en-US" sz="1300" dirty="0">
                <a:solidFill>
                  <a:srgbClr val="2A2742"/>
                </a:solidFill>
                <a:latin typeface="Arimo" pitchFamily="34" charset="0"/>
                <a:ea typeface="Arimo" pitchFamily="34" charset="-122"/>
                <a:cs typeface="Arimo" pitchFamily="34" charset="-120"/>
              </a:rPr>
              <a:t> = S1 · S2 · S3 · S4</a:t>
            </a:r>
            <a:endParaRPr lang="en-US" sz="1300" dirty="0"/>
          </a:p>
          <a:p>
            <a:pPr algn="l" indent="0" marL="0">
              <a:lnSpc>
                <a:spcPct val="133000"/>
              </a:lnSpc>
              <a:buNone/>
            </a:pPr>
            <a:r>
              <a:rPr lang="en-US" sz="1300" b="1" dirty="0">
                <a:solidFill>
                  <a:srgbClr val="2A2742"/>
                </a:solidFill>
                <a:latin typeface="Arimo Bold" pitchFamily="34" charset="0"/>
                <a:ea typeface="Arimo Bold" pitchFamily="34" charset="-122"/>
                <a:cs typeface="Arimo Bold" pitchFamily="34" charset="-120"/>
              </a:rPr>
              <a:t>ENTRY</a:t>
            </a:r>
            <a:pPr algn="l" indent="0" marL="0">
              <a:lnSpc>
                <a:spcPct val="133000"/>
              </a:lnSpc>
              <a:buNone/>
            </a:pPr>
            <a:r>
              <a:rPr lang="en-US" sz="1300" dirty="0">
                <a:solidFill>
                  <a:srgbClr val="2A2742"/>
                </a:solidFill>
                <a:latin typeface="Arimo" pitchFamily="34" charset="0"/>
                <a:ea typeface="Arimo" pitchFamily="34" charset="-122"/>
                <a:cs typeface="Arimo" pitchFamily="34" charset="-120"/>
              </a:rPr>
              <a:t> = E · AVAILABLE</a:t>
            </a:r>
            <a:endParaRPr lang="en-US" sz="13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6</Slides>
  <Notes>6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6</vt:i4>
      </vt:variant>
    </vt:vector>
  </HeadingPairs>
  <TitlesOfParts>
    <vt:vector size="9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lastModifiedBy/>
  <cp:revision>1</cp:revision>
  <dcterms:created xsi:type="dcterms:W3CDTF">2026-09-09T04:42:41Z</dcterms:created>
  <dcterms:modified xsi:type="dcterms:W3CDTF">2026-09-09T04:42:41Z</dcterms:modified>
</cp:coreProperties>
</file>